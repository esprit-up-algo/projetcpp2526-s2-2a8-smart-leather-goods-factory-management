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72" r:id="rId3"/>
  </p:sldMasterIdLst>
  <p:notesMasterIdLst>
    <p:notesMasterId r:id="rId4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92" r:id="rId22"/>
    <p:sldId id="293" r:id="rId23"/>
    <p:sldId id="294"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2000" cy="6858000"/>
  <p:notesSz cx="6858000" cy="9144000"/>
  <p:embeddedFontLst>
    <p:embeddedFont>
      <p:font typeface="Algerian" panose="04020705040A02060702" pitchFamily="82" charset="0"/>
      <p:regular r:id="rId44"/>
    </p:embeddedFont>
    <p:embeddedFont>
      <p:font typeface="Arial Black" panose="020B0A04020102020204" pitchFamily="34" charset="0"/>
      <p:regular r:id="rId45"/>
      <p:bold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7" roundtripDataSignature="AMtx7mjFoX5ZGTSQhb3A2gn25m0PdnJ9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976"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font" Target="fonts/font2.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font" Target="fonts/font1.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notesMaster" Target="notesMasters/notesMaster1.xml"/><Relationship Id="rId48"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3.fntdata"/><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2" name="Google Shape;23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9" name="Google Shape;23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7" name="Google Shape;247;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a:t>avant de commencer le codage , il faut télécharger et  installer arduino. </a:t>
            </a:r>
            <a:endParaRPr/>
          </a:p>
        </p:txBody>
      </p:sp>
      <p:sp>
        <p:nvSpPr>
          <p:cNvPr id="256" name="Google Shape;256;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6" name="Google Shape;266;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8" name="Google Shape;27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0" name="Google Shape;300;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1" name="Google Shape;31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3" name="Google Shape;323;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2" name="Google Shape;33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1" name="Google Shape;341;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2" name="Google Shape;352;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1" name="Google Shape;361;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9" name="Google Shape;36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8" name="Google Shape;378;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7" name="Google Shape;387;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7" name="Google Shape;39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7" name="Google Shape;40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6" name="Google Shape;41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7" name="Google Shape;42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6" name="Google Shape;436;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5" name="Google Shape;44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5" name="Google Shape;45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5" name="Google Shape;46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5" name="Google Shape;475;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6" name="Google Shape;486;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8" name="Google Shape;498;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7" name="Google Shape;507;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7" name="Google Shape;517;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7" name="Google Shape;527;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6" name="Google Shape;536;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5" name="Google Shape;545;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4" name="Google Shape;554;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3" name="Google Shape;56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2" name="Google Shape;572;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2" name="Google Shape;582;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1"/>
        <p:cNvGrpSpPr/>
        <p:nvPr/>
      </p:nvGrpSpPr>
      <p:grpSpPr>
        <a:xfrm>
          <a:off x="0" y="0"/>
          <a:ext cx="0" cy="0"/>
          <a:chOff x="0" y="0"/>
          <a:chExt cx="0" cy="0"/>
        </a:xfrm>
      </p:grpSpPr>
      <p:sp>
        <p:nvSpPr>
          <p:cNvPr id="12" name="Google Shape;12;p3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38"/>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8"/>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8"/>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17"/>
        <p:cNvGrpSpPr/>
        <p:nvPr/>
      </p:nvGrpSpPr>
      <p:grpSpPr>
        <a:xfrm>
          <a:off x="0" y="0"/>
          <a:ext cx="0" cy="0"/>
          <a:chOff x="0" y="0"/>
          <a:chExt cx="0" cy="0"/>
        </a:xfrm>
      </p:grpSpPr>
      <p:sp>
        <p:nvSpPr>
          <p:cNvPr id="18" name="Google Shape;18;p39"/>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9"/>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9"/>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9"/>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23"/>
        <p:cNvGrpSpPr/>
        <p:nvPr/>
      </p:nvGrpSpPr>
      <p:grpSpPr>
        <a:xfrm>
          <a:off x="0" y="0"/>
          <a:ext cx="0" cy="0"/>
          <a:chOff x="0" y="0"/>
          <a:chExt cx="0" cy="0"/>
        </a:xfrm>
      </p:grpSpPr>
      <p:sp>
        <p:nvSpPr>
          <p:cNvPr id="24" name="Google Shape;24;p40"/>
          <p:cNvSpPr txBox="1">
            <a:spLocks noGrp="1"/>
          </p:cNvSpPr>
          <p:nvPr>
            <p:ph type="title"/>
          </p:nvPr>
        </p:nvSpPr>
        <p:spPr>
          <a:xfrm>
            <a:off x="831851" y="1709740"/>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0"/>
          <p:cNvSpPr txBox="1">
            <a:spLocks noGrp="1"/>
          </p:cNvSpPr>
          <p:nvPr>
            <p:ph type="body" idx="1"/>
          </p:nvPr>
        </p:nvSpPr>
        <p:spPr>
          <a:xfrm>
            <a:off x="831851" y="4589465"/>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0"/>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0"/>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0"/>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29"/>
        <p:cNvGrpSpPr/>
        <p:nvPr/>
      </p:nvGrpSpPr>
      <p:grpSpPr>
        <a:xfrm>
          <a:off x="0" y="0"/>
          <a:ext cx="0" cy="0"/>
          <a:chOff x="0" y="0"/>
          <a:chExt cx="0" cy="0"/>
        </a:xfrm>
      </p:grpSpPr>
      <p:sp>
        <p:nvSpPr>
          <p:cNvPr id="30" name="Google Shape;30;p41"/>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4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41"/>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1"/>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1"/>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36"/>
        <p:cNvGrpSpPr/>
        <p:nvPr/>
      </p:nvGrpSpPr>
      <p:grpSpPr>
        <a:xfrm>
          <a:off x="0" y="0"/>
          <a:ext cx="0" cy="0"/>
          <a:chOff x="0" y="0"/>
          <a:chExt cx="0" cy="0"/>
        </a:xfrm>
      </p:grpSpPr>
      <p:sp>
        <p:nvSpPr>
          <p:cNvPr id="37" name="Google Shape;37;p42"/>
          <p:cNvSpPr txBox="1">
            <a:spLocks noGrp="1"/>
          </p:cNvSpPr>
          <p:nvPr>
            <p:ph type="title"/>
          </p:nvPr>
        </p:nvSpPr>
        <p:spPr>
          <a:xfrm>
            <a:off x="839788"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2"/>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42"/>
          <p:cNvSpPr txBox="1">
            <a:spLocks noGrp="1"/>
          </p:cNvSpPr>
          <p:nvPr>
            <p:ph type="body" idx="2"/>
          </p:nvPr>
        </p:nvSpPr>
        <p:spPr>
          <a:xfrm>
            <a:off x="839789"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42"/>
          <p:cNvSpPr txBox="1">
            <a:spLocks noGrp="1"/>
          </p:cNvSpPr>
          <p:nvPr>
            <p:ph type="body" idx="3"/>
          </p:nvPr>
        </p:nvSpPr>
        <p:spPr>
          <a:xfrm>
            <a:off x="6172201"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42"/>
          <p:cNvSpPr txBox="1">
            <a:spLocks noGrp="1"/>
          </p:cNvSpPr>
          <p:nvPr>
            <p:ph type="body" idx="4"/>
          </p:nvPr>
        </p:nvSpPr>
        <p:spPr>
          <a:xfrm>
            <a:off x="6172201"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42"/>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42"/>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42"/>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45"/>
        <p:cNvGrpSpPr/>
        <p:nvPr/>
      </p:nvGrpSpPr>
      <p:grpSpPr>
        <a:xfrm>
          <a:off x="0" y="0"/>
          <a:ext cx="0" cy="0"/>
          <a:chOff x="0" y="0"/>
          <a:chExt cx="0" cy="0"/>
        </a:xfrm>
      </p:grpSpPr>
      <p:sp>
        <p:nvSpPr>
          <p:cNvPr id="46" name="Google Shape;46;p43"/>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43"/>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43"/>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43"/>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50"/>
        <p:cNvGrpSpPr/>
        <p:nvPr/>
      </p:nvGrpSpPr>
      <p:grpSpPr>
        <a:xfrm>
          <a:off x="0" y="0"/>
          <a:ext cx="0" cy="0"/>
          <a:chOff x="0" y="0"/>
          <a:chExt cx="0" cy="0"/>
        </a:xfrm>
      </p:grpSpPr>
      <p:sp>
        <p:nvSpPr>
          <p:cNvPr id="51" name="Google Shape;51;p44"/>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44"/>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4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54"/>
        <p:cNvGrpSpPr/>
        <p:nvPr/>
      </p:nvGrpSpPr>
      <p:grpSpPr>
        <a:xfrm>
          <a:off x="0" y="0"/>
          <a:ext cx="0" cy="0"/>
          <a:chOff x="0" y="0"/>
          <a:chExt cx="0" cy="0"/>
        </a:xfrm>
      </p:grpSpPr>
      <p:sp>
        <p:nvSpPr>
          <p:cNvPr id="55" name="Google Shape;55;p4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5"/>
          <p:cNvSpPr txBox="1">
            <a:spLocks noGrp="1"/>
          </p:cNvSpPr>
          <p:nvPr>
            <p:ph type="body" idx="1"/>
          </p:nvPr>
        </p:nvSpPr>
        <p:spPr>
          <a:xfrm>
            <a:off x="5183188" y="987427"/>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4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45"/>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45"/>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5"/>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61"/>
        <p:cNvGrpSpPr/>
        <p:nvPr/>
      </p:nvGrpSpPr>
      <p:grpSpPr>
        <a:xfrm>
          <a:off x="0" y="0"/>
          <a:ext cx="0" cy="0"/>
          <a:chOff x="0" y="0"/>
          <a:chExt cx="0" cy="0"/>
        </a:xfrm>
      </p:grpSpPr>
      <p:sp>
        <p:nvSpPr>
          <p:cNvPr id="62" name="Google Shape;62;p4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46"/>
          <p:cNvSpPr>
            <a:spLocks noGrp="1"/>
          </p:cNvSpPr>
          <p:nvPr>
            <p:ph type="pic" idx="2"/>
          </p:nvPr>
        </p:nvSpPr>
        <p:spPr>
          <a:xfrm>
            <a:off x="5183188" y="987427"/>
            <a:ext cx="6172200" cy="4873625"/>
          </a:xfrm>
          <a:prstGeom prst="rect">
            <a:avLst/>
          </a:prstGeom>
          <a:noFill/>
          <a:ln>
            <a:noFill/>
          </a:ln>
        </p:spPr>
      </p:sp>
      <p:sp>
        <p:nvSpPr>
          <p:cNvPr id="64" name="Google Shape;64;p4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46"/>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6"/>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4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68"/>
        <p:cNvGrpSpPr/>
        <p:nvPr/>
      </p:nvGrpSpPr>
      <p:grpSpPr>
        <a:xfrm>
          <a:off x="0" y="0"/>
          <a:ext cx="0" cy="0"/>
          <a:chOff x="0" y="0"/>
          <a:chExt cx="0" cy="0"/>
        </a:xfrm>
      </p:grpSpPr>
      <p:sp>
        <p:nvSpPr>
          <p:cNvPr id="69" name="Google Shape;69;p47"/>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47"/>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47"/>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74"/>
        <p:cNvGrpSpPr/>
        <p:nvPr/>
      </p:nvGrpSpPr>
      <p:grpSpPr>
        <a:xfrm>
          <a:off x="0" y="0"/>
          <a:ext cx="0" cy="0"/>
          <a:chOff x="0" y="0"/>
          <a:chExt cx="0" cy="0"/>
        </a:xfrm>
      </p:grpSpPr>
      <p:sp>
        <p:nvSpPr>
          <p:cNvPr id="75" name="Google Shape;75;p48"/>
          <p:cNvSpPr txBox="1">
            <a:spLocks noGrp="1"/>
          </p:cNvSpPr>
          <p:nvPr>
            <p:ph type="title"/>
          </p:nvPr>
        </p:nvSpPr>
        <p:spPr>
          <a:xfrm rot="5400000">
            <a:off x="7133432"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8"/>
          <p:cNvSpPr txBox="1">
            <a:spLocks noGrp="1"/>
          </p:cNvSpPr>
          <p:nvPr>
            <p:ph type="body" idx="1"/>
          </p:nvPr>
        </p:nvSpPr>
        <p:spPr>
          <a:xfrm rot="5400000">
            <a:off x="1799432"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48"/>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48"/>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48"/>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86"/>
        <p:cNvGrpSpPr/>
        <p:nvPr/>
      </p:nvGrpSpPr>
      <p:grpSpPr>
        <a:xfrm>
          <a:off x="0" y="0"/>
          <a:ext cx="0" cy="0"/>
          <a:chOff x="0" y="0"/>
          <a:chExt cx="0" cy="0"/>
        </a:xfrm>
      </p:grpSpPr>
      <p:sp>
        <p:nvSpPr>
          <p:cNvPr id="87" name="Google Shape;87;p50"/>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50"/>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89" name="Google Shape;89;p5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5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5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92"/>
        <p:cNvGrpSpPr/>
        <p:nvPr/>
      </p:nvGrpSpPr>
      <p:grpSpPr>
        <a:xfrm>
          <a:off x="0" y="0"/>
          <a:ext cx="0" cy="0"/>
          <a:chOff x="0" y="0"/>
          <a:chExt cx="0" cy="0"/>
        </a:xfrm>
      </p:grpSpPr>
      <p:sp>
        <p:nvSpPr>
          <p:cNvPr id="93" name="Google Shape;93;p5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51"/>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95" name="Google Shape;95;p5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5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5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98"/>
        <p:cNvGrpSpPr/>
        <p:nvPr/>
      </p:nvGrpSpPr>
      <p:grpSpPr>
        <a:xfrm>
          <a:off x="0" y="0"/>
          <a:ext cx="0" cy="0"/>
          <a:chOff x="0" y="0"/>
          <a:chExt cx="0" cy="0"/>
        </a:xfrm>
      </p:grpSpPr>
      <p:sp>
        <p:nvSpPr>
          <p:cNvPr id="99" name="Google Shape;99;p52"/>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52"/>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101" name="Google Shape;101;p5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5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5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104"/>
        <p:cNvGrpSpPr/>
        <p:nvPr/>
      </p:nvGrpSpPr>
      <p:grpSpPr>
        <a:xfrm>
          <a:off x="0" y="0"/>
          <a:ext cx="0" cy="0"/>
          <a:chOff x="0" y="0"/>
          <a:chExt cx="0" cy="0"/>
        </a:xfrm>
      </p:grpSpPr>
      <p:sp>
        <p:nvSpPr>
          <p:cNvPr id="105" name="Google Shape;105;p5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53"/>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07" name="Google Shape;107;p53"/>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08" name="Google Shape;108;p5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5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5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111"/>
        <p:cNvGrpSpPr/>
        <p:nvPr/>
      </p:nvGrpSpPr>
      <p:grpSpPr>
        <a:xfrm>
          <a:off x="0" y="0"/>
          <a:ext cx="0" cy="0"/>
          <a:chOff x="0" y="0"/>
          <a:chExt cx="0" cy="0"/>
        </a:xfrm>
      </p:grpSpPr>
      <p:sp>
        <p:nvSpPr>
          <p:cNvPr id="112" name="Google Shape;112;p5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54"/>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14" name="Google Shape;114;p54"/>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15" name="Google Shape;115;p54"/>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16" name="Google Shape;116;p54"/>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17" name="Google Shape;117;p5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5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5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120"/>
        <p:cNvGrpSpPr/>
        <p:nvPr/>
      </p:nvGrpSpPr>
      <p:grpSpPr>
        <a:xfrm>
          <a:off x="0" y="0"/>
          <a:ext cx="0" cy="0"/>
          <a:chOff x="0" y="0"/>
          <a:chExt cx="0" cy="0"/>
        </a:xfrm>
      </p:grpSpPr>
      <p:sp>
        <p:nvSpPr>
          <p:cNvPr id="121" name="Google Shape;121;p5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5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5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5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125"/>
        <p:cNvGrpSpPr/>
        <p:nvPr/>
      </p:nvGrpSpPr>
      <p:grpSpPr>
        <a:xfrm>
          <a:off x="0" y="0"/>
          <a:ext cx="0" cy="0"/>
          <a:chOff x="0" y="0"/>
          <a:chExt cx="0" cy="0"/>
        </a:xfrm>
      </p:grpSpPr>
      <p:sp>
        <p:nvSpPr>
          <p:cNvPr id="126" name="Google Shape;126;p5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5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5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129"/>
        <p:cNvGrpSpPr/>
        <p:nvPr/>
      </p:nvGrpSpPr>
      <p:grpSpPr>
        <a:xfrm>
          <a:off x="0" y="0"/>
          <a:ext cx="0" cy="0"/>
          <a:chOff x="0" y="0"/>
          <a:chExt cx="0" cy="0"/>
        </a:xfrm>
      </p:grpSpPr>
      <p:sp>
        <p:nvSpPr>
          <p:cNvPr id="130" name="Google Shape;130;p57"/>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57"/>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132" name="Google Shape;132;p57"/>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33" name="Google Shape;133;p5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4" name="Google Shape;134;p5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5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136"/>
        <p:cNvGrpSpPr/>
        <p:nvPr/>
      </p:nvGrpSpPr>
      <p:grpSpPr>
        <a:xfrm>
          <a:off x="0" y="0"/>
          <a:ext cx="0" cy="0"/>
          <a:chOff x="0" y="0"/>
          <a:chExt cx="0" cy="0"/>
        </a:xfrm>
      </p:grpSpPr>
      <p:sp>
        <p:nvSpPr>
          <p:cNvPr id="137" name="Google Shape;137;p58"/>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58"/>
          <p:cNvSpPr>
            <a:spLocks noGrp="1"/>
          </p:cNvSpPr>
          <p:nvPr>
            <p:ph type="pic" idx="2"/>
          </p:nvPr>
        </p:nvSpPr>
        <p:spPr>
          <a:xfrm>
            <a:off x="2389717" y="612775"/>
            <a:ext cx="7315200" cy="4114800"/>
          </a:xfrm>
          <a:prstGeom prst="rect">
            <a:avLst/>
          </a:prstGeom>
          <a:noFill/>
          <a:ln>
            <a:noFill/>
          </a:ln>
        </p:spPr>
      </p:sp>
      <p:sp>
        <p:nvSpPr>
          <p:cNvPr id="139" name="Google Shape;139;p58"/>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40" name="Google Shape;140;p5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p5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p5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143"/>
        <p:cNvGrpSpPr/>
        <p:nvPr/>
      </p:nvGrpSpPr>
      <p:grpSpPr>
        <a:xfrm>
          <a:off x="0" y="0"/>
          <a:ext cx="0" cy="0"/>
          <a:chOff x="0" y="0"/>
          <a:chExt cx="0" cy="0"/>
        </a:xfrm>
      </p:grpSpPr>
      <p:sp>
        <p:nvSpPr>
          <p:cNvPr id="144" name="Google Shape;144;p5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59"/>
          <p:cNvSpPr txBox="1">
            <a:spLocks noGrp="1"/>
          </p:cNvSpPr>
          <p:nvPr>
            <p:ph type="body" idx="1"/>
          </p:nvPr>
        </p:nvSpPr>
        <p:spPr>
          <a:xfrm rot="5400000">
            <a:off x="3833019" y="-1623217"/>
            <a:ext cx="4525963" cy="10972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46" name="Google Shape;146;p5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5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p5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149"/>
        <p:cNvGrpSpPr/>
        <p:nvPr/>
      </p:nvGrpSpPr>
      <p:grpSpPr>
        <a:xfrm>
          <a:off x="0" y="0"/>
          <a:ext cx="0" cy="0"/>
          <a:chOff x="0" y="0"/>
          <a:chExt cx="0" cy="0"/>
        </a:xfrm>
      </p:grpSpPr>
      <p:sp>
        <p:nvSpPr>
          <p:cNvPr id="150" name="Google Shape;150;p60"/>
          <p:cNvSpPr txBox="1">
            <a:spLocks noGrp="1"/>
          </p:cNvSpPr>
          <p:nvPr>
            <p:ph type="title"/>
          </p:nvPr>
        </p:nvSpPr>
        <p:spPr>
          <a:xfrm rot="5400000">
            <a:off x="7285037" y="1828802"/>
            <a:ext cx="5851525" cy="27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p60"/>
          <p:cNvSpPr txBox="1">
            <a:spLocks noGrp="1"/>
          </p:cNvSpPr>
          <p:nvPr>
            <p:ph type="body" idx="1"/>
          </p:nvPr>
        </p:nvSpPr>
        <p:spPr>
          <a:xfrm rot="5400000">
            <a:off x="1697037"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52" name="Google Shape;152;p6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6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6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61"/>
        <p:cNvGrpSpPr/>
        <p:nvPr/>
      </p:nvGrpSpPr>
      <p:grpSpPr>
        <a:xfrm>
          <a:off x="0" y="0"/>
          <a:ext cx="0" cy="0"/>
          <a:chOff x="0" y="0"/>
          <a:chExt cx="0" cy="0"/>
        </a:xfrm>
      </p:grpSpPr>
      <p:sp>
        <p:nvSpPr>
          <p:cNvPr id="162" name="Google Shape;162;p6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p6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64" name="Google Shape;164;p62"/>
          <p:cNvSpPr txBox="1">
            <a:spLocks noGrp="1"/>
          </p:cNvSpPr>
          <p:nvPr>
            <p:ph type="dt" idx="10"/>
          </p:nvPr>
        </p:nvSpPr>
        <p:spPr>
          <a:xfrm>
            <a:off x="838200" y="635636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5" name="Google Shape;165;p62"/>
          <p:cNvSpPr txBox="1">
            <a:spLocks noGrp="1"/>
          </p:cNvSpPr>
          <p:nvPr>
            <p:ph type="ftr" idx="11"/>
          </p:nvPr>
        </p:nvSpPr>
        <p:spPr>
          <a:xfrm>
            <a:off x="4038600" y="635636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p62"/>
          <p:cNvSpPr txBox="1">
            <a:spLocks noGrp="1"/>
          </p:cNvSpPr>
          <p:nvPr>
            <p:ph type="sldNum" idx="12"/>
          </p:nvPr>
        </p:nvSpPr>
        <p:spPr>
          <a:xfrm>
            <a:off x="8610600" y="635636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167"/>
        <p:cNvGrpSpPr/>
        <p:nvPr/>
      </p:nvGrpSpPr>
      <p:grpSpPr>
        <a:xfrm>
          <a:off x="0" y="0"/>
          <a:ext cx="0" cy="0"/>
          <a:chOff x="0" y="0"/>
          <a:chExt cx="0" cy="0"/>
        </a:xfrm>
      </p:grpSpPr>
      <p:sp>
        <p:nvSpPr>
          <p:cNvPr id="168" name="Google Shape;168;p63"/>
          <p:cNvSpPr txBox="1">
            <a:spLocks noGrp="1"/>
          </p:cNvSpPr>
          <p:nvPr>
            <p:ph type="title"/>
          </p:nvPr>
        </p:nvSpPr>
        <p:spPr>
          <a:xfrm>
            <a:off x="838200" y="365129"/>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6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0" name="Google Shape;170;p63"/>
          <p:cNvSpPr txBox="1">
            <a:spLocks noGrp="1"/>
          </p:cNvSpPr>
          <p:nvPr>
            <p:ph type="dt" idx="10"/>
          </p:nvPr>
        </p:nvSpPr>
        <p:spPr>
          <a:xfrm>
            <a:off x="838200" y="635636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1" name="Google Shape;171;p63"/>
          <p:cNvSpPr txBox="1">
            <a:spLocks noGrp="1"/>
          </p:cNvSpPr>
          <p:nvPr>
            <p:ph type="ftr" idx="11"/>
          </p:nvPr>
        </p:nvSpPr>
        <p:spPr>
          <a:xfrm>
            <a:off x="4038600" y="635636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2" name="Google Shape;172;p63"/>
          <p:cNvSpPr txBox="1">
            <a:spLocks noGrp="1"/>
          </p:cNvSpPr>
          <p:nvPr>
            <p:ph type="sldNum" idx="12"/>
          </p:nvPr>
        </p:nvSpPr>
        <p:spPr>
          <a:xfrm>
            <a:off x="8610600" y="635636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173"/>
        <p:cNvGrpSpPr/>
        <p:nvPr/>
      </p:nvGrpSpPr>
      <p:grpSpPr>
        <a:xfrm>
          <a:off x="0" y="0"/>
          <a:ext cx="0" cy="0"/>
          <a:chOff x="0" y="0"/>
          <a:chExt cx="0" cy="0"/>
        </a:xfrm>
      </p:grpSpPr>
      <p:sp>
        <p:nvSpPr>
          <p:cNvPr id="174" name="Google Shape;174;p64"/>
          <p:cNvSpPr txBox="1">
            <a:spLocks noGrp="1"/>
          </p:cNvSpPr>
          <p:nvPr>
            <p:ph type="title"/>
          </p:nvPr>
        </p:nvSpPr>
        <p:spPr>
          <a:xfrm>
            <a:off x="831851" y="1709744"/>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5" name="Google Shape;175;p64"/>
          <p:cNvSpPr txBox="1">
            <a:spLocks noGrp="1"/>
          </p:cNvSpPr>
          <p:nvPr>
            <p:ph type="body" idx="1"/>
          </p:nvPr>
        </p:nvSpPr>
        <p:spPr>
          <a:xfrm>
            <a:off x="831851" y="458947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76" name="Google Shape;176;p64"/>
          <p:cNvSpPr txBox="1">
            <a:spLocks noGrp="1"/>
          </p:cNvSpPr>
          <p:nvPr>
            <p:ph type="dt" idx="10"/>
          </p:nvPr>
        </p:nvSpPr>
        <p:spPr>
          <a:xfrm>
            <a:off x="838200" y="635636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64"/>
          <p:cNvSpPr txBox="1">
            <a:spLocks noGrp="1"/>
          </p:cNvSpPr>
          <p:nvPr>
            <p:ph type="ftr" idx="11"/>
          </p:nvPr>
        </p:nvSpPr>
        <p:spPr>
          <a:xfrm>
            <a:off x="4038600" y="635636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p64"/>
          <p:cNvSpPr txBox="1">
            <a:spLocks noGrp="1"/>
          </p:cNvSpPr>
          <p:nvPr>
            <p:ph type="sldNum" idx="12"/>
          </p:nvPr>
        </p:nvSpPr>
        <p:spPr>
          <a:xfrm>
            <a:off x="8610600" y="635636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179"/>
        <p:cNvGrpSpPr/>
        <p:nvPr/>
      </p:nvGrpSpPr>
      <p:grpSpPr>
        <a:xfrm>
          <a:off x="0" y="0"/>
          <a:ext cx="0" cy="0"/>
          <a:chOff x="0" y="0"/>
          <a:chExt cx="0" cy="0"/>
        </a:xfrm>
      </p:grpSpPr>
      <p:sp>
        <p:nvSpPr>
          <p:cNvPr id="180" name="Google Shape;180;p65"/>
          <p:cNvSpPr txBox="1">
            <a:spLocks noGrp="1"/>
          </p:cNvSpPr>
          <p:nvPr>
            <p:ph type="title"/>
          </p:nvPr>
        </p:nvSpPr>
        <p:spPr>
          <a:xfrm>
            <a:off x="838200" y="365129"/>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1" name="Google Shape;181;p6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2" name="Google Shape;182;p6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3" name="Google Shape;183;p65"/>
          <p:cNvSpPr txBox="1">
            <a:spLocks noGrp="1"/>
          </p:cNvSpPr>
          <p:nvPr>
            <p:ph type="dt" idx="10"/>
          </p:nvPr>
        </p:nvSpPr>
        <p:spPr>
          <a:xfrm>
            <a:off x="838200" y="635636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65"/>
          <p:cNvSpPr txBox="1">
            <a:spLocks noGrp="1"/>
          </p:cNvSpPr>
          <p:nvPr>
            <p:ph type="ftr" idx="11"/>
          </p:nvPr>
        </p:nvSpPr>
        <p:spPr>
          <a:xfrm>
            <a:off x="4038600" y="635636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5" name="Google Shape;185;p65"/>
          <p:cNvSpPr txBox="1">
            <a:spLocks noGrp="1"/>
          </p:cNvSpPr>
          <p:nvPr>
            <p:ph type="sldNum" idx="12"/>
          </p:nvPr>
        </p:nvSpPr>
        <p:spPr>
          <a:xfrm>
            <a:off x="8610600" y="635636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186"/>
        <p:cNvGrpSpPr/>
        <p:nvPr/>
      </p:nvGrpSpPr>
      <p:grpSpPr>
        <a:xfrm>
          <a:off x="0" y="0"/>
          <a:ext cx="0" cy="0"/>
          <a:chOff x="0" y="0"/>
          <a:chExt cx="0" cy="0"/>
        </a:xfrm>
      </p:grpSpPr>
      <p:sp>
        <p:nvSpPr>
          <p:cNvPr id="187" name="Google Shape;187;p66"/>
          <p:cNvSpPr txBox="1">
            <a:spLocks noGrp="1"/>
          </p:cNvSpPr>
          <p:nvPr>
            <p:ph type="title"/>
          </p:nvPr>
        </p:nvSpPr>
        <p:spPr>
          <a:xfrm>
            <a:off x="839788" y="365129"/>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8" name="Google Shape;188;p66"/>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89" name="Google Shape;189;p66"/>
          <p:cNvSpPr txBox="1">
            <a:spLocks noGrp="1"/>
          </p:cNvSpPr>
          <p:nvPr>
            <p:ph type="body" idx="2"/>
          </p:nvPr>
        </p:nvSpPr>
        <p:spPr>
          <a:xfrm>
            <a:off x="839789"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0" name="Google Shape;190;p66"/>
          <p:cNvSpPr txBox="1">
            <a:spLocks noGrp="1"/>
          </p:cNvSpPr>
          <p:nvPr>
            <p:ph type="body" idx="3"/>
          </p:nvPr>
        </p:nvSpPr>
        <p:spPr>
          <a:xfrm>
            <a:off x="6172203"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91" name="Google Shape;191;p66"/>
          <p:cNvSpPr txBox="1">
            <a:spLocks noGrp="1"/>
          </p:cNvSpPr>
          <p:nvPr>
            <p:ph type="body" idx="4"/>
          </p:nvPr>
        </p:nvSpPr>
        <p:spPr>
          <a:xfrm>
            <a:off x="6172203"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2" name="Google Shape;192;p66"/>
          <p:cNvSpPr txBox="1">
            <a:spLocks noGrp="1"/>
          </p:cNvSpPr>
          <p:nvPr>
            <p:ph type="dt" idx="10"/>
          </p:nvPr>
        </p:nvSpPr>
        <p:spPr>
          <a:xfrm>
            <a:off x="838200" y="635636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p66"/>
          <p:cNvSpPr txBox="1">
            <a:spLocks noGrp="1"/>
          </p:cNvSpPr>
          <p:nvPr>
            <p:ph type="ftr" idx="11"/>
          </p:nvPr>
        </p:nvSpPr>
        <p:spPr>
          <a:xfrm>
            <a:off x="4038600" y="635636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4" name="Google Shape;194;p66"/>
          <p:cNvSpPr txBox="1">
            <a:spLocks noGrp="1"/>
          </p:cNvSpPr>
          <p:nvPr>
            <p:ph type="sldNum" idx="12"/>
          </p:nvPr>
        </p:nvSpPr>
        <p:spPr>
          <a:xfrm>
            <a:off x="8610600" y="635636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195"/>
        <p:cNvGrpSpPr/>
        <p:nvPr/>
      </p:nvGrpSpPr>
      <p:grpSpPr>
        <a:xfrm>
          <a:off x="0" y="0"/>
          <a:ext cx="0" cy="0"/>
          <a:chOff x="0" y="0"/>
          <a:chExt cx="0" cy="0"/>
        </a:xfrm>
      </p:grpSpPr>
      <p:sp>
        <p:nvSpPr>
          <p:cNvPr id="196" name="Google Shape;196;p67"/>
          <p:cNvSpPr txBox="1">
            <a:spLocks noGrp="1"/>
          </p:cNvSpPr>
          <p:nvPr>
            <p:ph type="title"/>
          </p:nvPr>
        </p:nvSpPr>
        <p:spPr>
          <a:xfrm>
            <a:off x="838200" y="365129"/>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67"/>
          <p:cNvSpPr txBox="1">
            <a:spLocks noGrp="1"/>
          </p:cNvSpPr>
          <p:nvPr>
            <p:ph type="dt" idx="10"/>
          </p:nvPr>
        </p:nvSpPr>
        <p:spPr>
          <a:xfrm>
            <a:off x="838200" y="635636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8" name="Google Shape;198;p67"/>
          <p:cNvSpPr txBox="1">
            <a:spLocks noGrp="1"/>
          </p:cNvSpPr>
          <p:nvPr>
            <p:ph type="ftr" idx="11"/>
          </p:nvPr>
        </p:nvSpPr>
        <p:spPr>
          <a:xfrm>
            <a:off x="4038600" y="635636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9" name="Google Shape;199;p67"/>
          <p:cNvSpPr txBox="1">
            <a:spLocks noGrp="1"/>
          </p:cNvSpPr>
          <p:nvPr>
            <p:ph type="sldNum" idx="12"/>
          </p:nvPr>
        </p:nvSpPr>
        <p:spPr>
          <a:xfrm>
            <a:off x="8610600" y="635636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200"/>
        <p:cNvGrpSpPr/>
        <p:nvPr/>
      </p:nvGrpSpPr>
      <p:grpSpPr>
        <a:xfrm>
          <a:off x="0" y="0"/>
          <a:ext cx="0" cy="0"/>
          <a:chOff x="0" y="0"/>
          <a:chExt cx="0" cy="0"/>
        </a:xfrm>
      </p:grpSpPr>
      <p:sp>
        <p:nvSpPr>
          <p:cNvPr id="201" name="Google Shape;201;p68"/>
          <p:cNvSpPr txBox="1">
            <a:spLocks noGrp="1"/>
          </p:cNvSpPr>
          <p:nvPr>
            <p:ph type="dt" idx="10"/>
          </p:nvPr>
        </p:nvSpPr>
        <p:spPr>
          <a:xfrm>
            <a:off x="838200" y="635636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p68"/>
          <p:cNvSpPr txBox="1">
            <a:spLocks noGrp="1"/>
          </p:cNvSpPr>
          <p:nvPr>
            <p:ph type="ftr" idx="11"/>
          </p:nvPr>
        </p:nvSpPr>
        <p:spPr>
          <a:xfrm>
            <a:off x="4038600" y="635636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p68"/>
          <p:cNvSpPr txBox="1">
            <a:spLocks noGrp="1"/>
          </p:cNvSpPr>
          <p:nvPr>
            <p:ph type="sldNum" idx="12"/>
          </p:nvPr>
        </p:nvSpPr>
        <p:spPr>
          <a:xfrm>
            <a:off x="8610600" y="635636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204"/>
        <p:cNvGrpSpPr/>
        <p:nvPr/>
      </p:nvGrpSpPr>
      <p:grpSpPr>
        <a:xfrm>
          <a:off x="0" y="0"/>
          <a:ext cx="0" cy="0"/>
          <a:chOff x="0" y="0"/>
          <a:chExt cx="0" cy="0"/>
        </a:xfrm>
      </p:grpSpPr>
      <p:sp>
        <p:nvSpPr>
          <p:cNvPr id="205" name="Google Shape;205;p6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6" name="Google Shape;206;p69"/>
          <p:cNvSpPr txBox="1">
            <a:spLocks noGrp="1"/>
          </p:cNvSpPr>
          <p:nvPr>
            <p:ph type="body" idx="1"/>
          </p:nvPr>
        </p:nvSpPr>
        <p:spPr>
          <a:xfrm>
            <a:off x="5183188" y="987428"/>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07" name="Google Shape;207;p6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08" name="Google Shape;208;p69"/>
          <p:cNvSpPr txBox="1">
            <a:spLocks noGrp="1"/>
          </p:cNvSpPr>
          <p:nvPr>
            <p:ph type="dt" idx="10"/>
          </p:nvPr>
        </p:nvSpPr>
        <p:spPr>
          <a:xfrm>
            <a:off x="838200" y="635636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9" name="Google Shape;209;p69"/>
          <p:cNvSpPr txBox="1">
            <a:spLocks noGrp="1"/>
          </p:cNvSpPr>
          <p:nvPr>
            <p:ph type="ftr" idx="11"/>
          </p:nvPr>
        </p:nvSpPr>
        <p:spPr>
          <a:xfrm>
            <a:off x="4038600" y="635636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0" name="Google Shape;210;p69"/>
          <p:cNvSpPr txBox="1">
            <a:spLocks noGrp="1"/>
          </p:cNvSpPr>
          <p:nvPr>
            <p:ph type="sldNum" idx="12"/>
          </p:nvPr>
        </p:nvSpPr>
        <p:spPr>
          <a:xfrm>
            <a:off x="8610600" y="635636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211"/>
        <p:cNvGrpSpPr/>
        <p:nvPr/>
      </p:nvGrpSpPr>
      <p:grpSpPr>
        <a:xfrm>
          <a:off x="0" y="0"/>
          <a:ext cx="0" cy="0"/>
          <a:chOff x="0" y="0"/>
          <a:chExt cx="0" cy="0"/>
        </a:xfrm>
      </p:grpSpPr>
      <p:sp>
        <p:nvSpPr>
          <p:cNvPr id="212" name="Google Shape;212;p7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3" name="Google Shape;213;p70"/>
          <p:cNvSpPr>
            <a:spLocks noGrp="1"/>
          </p:cNvSpPr>
          <p:nvPr>
            <p:ph type="pic" idx="2"/>
          </p:nvPr>
        </p:nvSpPr>
        <p:spPr>
          <a:xfrm>
            <a:off x="5183188" y="987428"/>
            <a:ext cx="6172200" cy="4873625"/>
          </a:xfrm>
          <a:prstGeom prst="rect">
            <a:avLst/>
          </a:prstGeom>
          <a:noFill/>
          <a:ln>
            <a:noFill/>
          </a:ln>
        </p:spPr>
      </p:sp>
      <p:sp>
        <p:nvSpPr>
          <p:cNvPr id="214" name="Google Shape;214;p7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15" name="Google Shape;215;p70"/>
          <p:cNvSpPr txBox="1">
            <a:spLocks noGrp="1"/>
          </p:cNvSpPr>
          <p:nvPr>
            <p:ph type="dt" idx="10"/>
          </p:nvPr>
        </p:nvSpPr>
        <p:spPr>
          <a:xfrm>
            <a:off x="838200" y="635636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6" name="Google Shape;216;p70"/>
          <p:cNvSpPr txBox="1">
            <a:spLocks noGrp="1"/>
          </p:cNvSpPr>
          <p:nvPr>
            <p:ph type="ftr" idx="11"/>
          </p:nvPr>
        </p:nvSpPr>
        <p:spPr>
          <a:xfrm>
            <a:off x="4038600" y="635636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7" name="Google Shape;217;p70"/>
          <p:cNvSpPr txBox="1">
            <a:spLocks noGrp="1"/>
          </p:cNvSpPr>
          <p:nvPr>
            <p:ph type="sldNum" idx="12"/>
          </p:nvPr>
        </p:nvSpPr>
        <p:spPr>
          <a:xfrm>
            <a:off x="8610600" y="635636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218"/>
        <p:cNvGrpSpPr/>
        <p:nvPr/>
      </p:nvGrpSpPr>
      <p:grpSpPr>
        <a:xfrm>
          <a:off x="0" y="0"/>
          <a:ext cx="0" cy="0"/>
          <a:chOff x="0" y="0"/>
          <a:chExt cx="0" cy="0"/>
        </a:xfrm>
      </p:grpSpPr>
      <p:sp>
        <p:nvSpPr>
          <p:cNvPr id="219" name="Google Shape;219;p71"/>
          <p:cNvSpPr txBox="1">
            <a:spLocks noGrp="1"/>
          </p:cNvSpPr>
          <p:nvPr>
            <p:ph type="title"/>
          </p:nvPr>
        </p:nvSpPr>
        <p:spPr>
          <a:xfrm>
            <a:off x="838200" y="365129"/>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0" name="Google Shape;220;p7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1" name="Google Shape;221;p71"/>
          <p:cNvSpPr txBox="1">
            <a:spLocks noGrp="1"/>
          </p:cNvSpPr>
          <p:nvPr>
            <p:ph type="dt" idx="10"/>
          </p:nvPr>
        </p:nvSpPr>
        <p:spPr>
          <a:xfrm>
            <a:off x="838200" y="635636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2" name="Google Shape;222;p71"/>
          <p:cNvSpPr txBox="1">
            <a:spLocks noGrp="1"/>
          </p:cNvSpPr>
          <p:nvPr>
            <p:ph type="ftr" idx="11"/>
          </p:nvPr>
        </p:nvSpPr>
        <p:spPr>
          <a:xfrm>
            <a:off x="4038600" y="635636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3" name="Google Shape;223;p71"/>
          <p:cNvSpPr txBox="1">
            <a:spLocks noGrp="1"/>
          </p:cNvSpPr>
          <p:nvPr>
            <p:ph type="sldNum" idx="12"/>
          </p:nvPr>
        </p:nvSpPr>
        <p:spPr>
          <a:xfrm>
            <a:off x="8610600" y="635636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224"/>
        <p:cNvGrpSpPr/>
        <p:nvPr/>
      </p:nvGrpSpPr>
      <p:grpSpPr>
        <a:xfrm>
          <a:off x="0" y="0"/>
          <a:ext cx="0" cy="0"/>
          <a:chOff x="0" y="0"/>
          <a:chExt cx="0" cy="0"/>
        </a:xfrm>
      </p:grpSpPr>
      <p:sp>
        <p:nvSpPr>
          <p:cNvPr id="225" name="Google Shape;225;p72"/>
          <p:cNvSpPr txBox="1">
            <a:spLocks noGrp="1"/>
          </p:cNvSpPr>
          <p:nvPr>
            <p:ph type="title"/>
          </p:nvPr>
        </p:nvSpPr>
        <p:spPr>
          <a:xfrm rot="5400000">
            <a:off x="7133433"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6" name="Google Shape;226;p72"/>
          <p:cNvSpPr txBox="1">
            <a:spLocks noGrp="1"/>
          </p:cNvSpPr>
          <p:nvPr>
            <p:ph type="body" idx="1"/>
          </p:nvPr>
        </p:nvSpPr>
        <p:spPr>
          <a:xfrm rot="5400000">
            <a:off x="1799434"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7" name="Google Shape;227;p72"/>
          <p:cNvSpPr txBox="1">
            <a:spLocks noGrp="1"/>
          </p:cNvSpPr>
          <p:nvPr>
            <p:ph type="dt" idx="10"/>
          </p:nvPr>
        </p:nvSpPr>
        <p:spPr>
          <a:xfrm>
            <a:off x="838200" y="635636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8" name="Google Shape;228;p72"/>
          <p:cNvSpPr txBox="1">
            <a:spLocks noGrp="1"/>
          </p:cNvSpPr>
          <p:nvPr>
            <p:ph type="ftr" idx="11"/>
          </p:nvPr>
        </p:nvSpPr>
        <p:spPr>
          <a:xfrm>
            <a:off x="4038600" y="635636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9" name="Google Shape;229;p72"/>
          <p:cNvSpPr txBox="1">
            <a:spLocks noGrp="1"/>
          </p:cNvSpPr>
          <p:nvPr>
            <p:ph type="sldNum" idx="12"/>
          </p:nvPr>
        </p:nvSpPr>
        <p:spPr>
          <a:xfrm>
            <a:off x="8610600" y="635636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37"/>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3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37"/>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7"/>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sp>
        <p:nvSpPr>
          <p:cNvPr id="81" name="Google Shape;81;p4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2" name="Google Shape;82;p49"/>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3" name="Google Shape;83;p4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4" name="Google Shape;84;p4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5" name="Google Shape;85;p4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155"/>
        <p:cNvGrpSpPr/>
        <p:nvPr/>
      </p:nvGrpSpPr>
      <p:grpSpPr>
        <a:xfrm>
          <a:off x="0" y="0"/>
          <a:ext cx="0" cy="0"/>
          <a:chOff x="0" y="0"/>
          <a:chExt cx="0" cy="0"/>
        </a:xfrm>
      </p:grpSpPr>
      <p:sp>
        <p:nvSpPr>
          <p:cNvPr id="156" name="Google Shape;156;p61"/>
          <p:cNvSpPr txBox="1">
            <a:spLocks noGrp="1"/>
          </p:cNvSpPr>
          <p:nvPr>
            <p:ph type="title"/>
          </p:nvPr>
        </p:nvSpPr>
        <p:spPr>
          <a:xfrm>
            <a:off x="838200" y="365129"/>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7" name="Google Shape;157;p6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8" name="Google Shape;158;p61"/>
          <p:cNvSpPr txBox="1">
            <a:spLocks noGrp="1"/>
          </p:cNvSpPr>
          <p:nvPr>
            <p:ph type="dt" idx="10"/>
          </p:nvPr>
        </p:nvSpPr>
        <p:spPr>
          <a:xfrm>
            <a:off x="838200" y="635636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9" name="Google Shape;159;p61"/>
          <p:cNvSpPr txBox="1">
            <a:spLocks noGrp="1"/>
          </p:cNvSpPr>
          <p:nvPr>
            <p:ph type="ftr" idx="11"/>
          </p:nvPr>
        </p:nvSpPr>
        <p:spPr>
          <a:xfrm>
            <a:off x="4038600" y="635636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60" name="Google Shape;160;p61"/>
          <p:cNvSpPr txBox="1">
            <a:spLocks noGrp="1"/>
          </p:cNvSpPr>
          <p:nvPr>
            <p:ph type="sldNum" idx="12"/>
          </p:nvPr>
        </p:nvSpPr>
        <p:spPr>
          <a:xfrm>
            <a:off x="8610600" y="635636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1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arduino-france.site/entrees-sorties-arduino/#:~:text=PWM%20Pins%20%E2%80%94%20ports%20modul%C3%A9s%20par,capteurs%2C%20fonctionnant%20comme%20une%20entr%C3%A9e." TargetMode="External"/><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arduino-france.site/entrees-sorties-arduino/#:~:text=PWM%20Pins%20%E2%80%94%20ports%20modul%C3%A9s%20par,capteurs%2C%20fonctionnant%20comme%20une%20entr%C3%A9e." TargetMode="External"/><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arduino-france.site/entrees-sorties-arduino/#:~:text=PWM%20Pins%20%E2%80%94%20ports%20modul%C3%A9s%20par,capteurs%2C%20fonctionnant%20comme%20une%20entr%C3%A9e." TargetMode="External"/><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hyperlink" Target="https://eskimon.fr/tuto-arduino-302-envoyer-et-recevoir-des-donn%C3%A9es-sur-la-voie-s%C3%A9rie"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8.jp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pic>
        <p:nvPicPr>
          <p:cNvPr id="234" name="Google Shape;234;p1"/>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5" name="Google Shape;235;p1"/>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a:t>
            </a:fld>
            <a:endParaRPr/>
          </a:p>
        </p:txBody>
      </p:sp>
      <p:sp>
        <p:nvSpPr>
          <p:cNvPr id="236" name="Google Shape;236;p1"/>
          <p:cNvSpPr txBox="1"/>
          <p:nvPr/>
        </p:nvSpPr>
        <p:spPr>
          <a:xfrm>
            <a:off x="377868" y="2578691"/>
            <a:ext cx="11436263" cy="314327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fr-FR" sz="3200" b="1" i="0" u="none" strike="noStrike" cap="none">
                <a:solidFill>
                  <a:srgbClr val="C00000"/>
                </a:solidFill>
                <a:latin typeface="Calibri"/>
                <a:ea typeface="Calibri"/>
                <a:cs typeface="Calibri"/>
                <a:sym typeface="Calibri"/>
              </a:rPr>
              <a:t>Projet C++</a:t>
            </a:r>
            <a:br>
              <a:rPr lang="fr-FR" sz="7200" b="1" i="0" u="none" strike="noStrike" cap="none">
                <a:solidFill>
                  <a:srgbClr val="C00000"/>
                </a:solidFill>
                <a:latin typeface="Calibri"/>
                <a:ea typeface="Calibri"/>
                <a:cs typeface="Calibri"/>
                <a:sym typeface="Calibri"/>
              </a:rPr>
            </a:br>
            <a:r>
              <a:rPr lang="fr-FR" sz="3200" b="1" i="0" u="none" strike="noStrike" cap="none">
                <a:solidFill>
                  <a:srgbClr val="C00000"/>
                </a:solidFill>
                <a:latin typeface="Calibri"/>
                <a:ea typeface="Calibri"/>
                <a:cs typeface="Calibri"/>
                <a:sym typeface="Calibri"/>
              </a:rPr>
              <a:t>Atelier 4 : Arduino</a:t>
            </a:r>
            <a:endParaRPr sz="3200" b="1" i="0" u="none" strike="noStrike" cap="none">
              <a:solidFill>
                <a:srgbClr val="C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200"/>
              <a:buFont typeface="Arial"/>
              <a:buNone/>
            </a:pPr>
            <a:br>
              <a:rPr lang="fr-FR" sz="3200" b="1" i="0" u="none" strike="noStrike" cap="none">
                <a:solidFill>
                  <a:srgbClr val="C00000"/>
                </a:solidFill>
                <a:latin typeface="Calibri"/>
                <a:ea typeface="Calibri"/>
                <a:cs typeface="Calibri"/>
                <a:sym typeface="Calibri"/>
              </a:rPr>
            </a:br>
            <a:r>
              <a:rPr lang="fr-FR" sz="2000" b="1" i="0" u="none" strike="noStrike" cap="none">
                <a:solidFill>
                  <a:srgbClr val="C00000"/>
                </a:solidFill>
                <a:latin typeface="Calibri"/>
                <a:ea typeface="Calibri"/>
                <a:cs typeface="Calibri"/>
                <a:sym typeface="Calibri"/>
              </a:rPr>
              <a:t> Elaboré par :</a:t>
            </a:r>
            <a:br>
              <a:rPr lang="fr-FR" sz="2000" b="1" i="0" u="none" strike="noStrike" cap="none">
                <a:solidFill>
                  <a:srgbClr val="C00000"/>
                </a:solidFill>
                <a:latin typeface="Calibri"/>
                <a:ea typeface="Calibri"/>
                <a:cs typeface="Calibri"/>
                <a:sym typeface="Calibri"/>
              </a:rPr>
            </a:br>
            <a:r>
              <a:rPr lang="fr-FR" sz="2000" b="1" i="0" u="none" strike="noStrike" cap="none">
                <a:solidFill>
                  <a:srgbClr val="C00000"/>
                </a:solidFill>
                <a:latin typeface="Calibri"/>
                <a:ea typeface="Calibri"/>
                <a:cs typeface="Calibri"/>
                <a:sym typeface="Calibri"/>
              </a:rPr>
              <a:t>Mme. Hanen Jabnoun &amp; Mme. Henda Ben Cheikh &amp; Mme Imen Mbazaa</a:t>
            </a:r>
            <a:br>
              <a:rPr lang="fr-FR" sz="2000" b="1" i="0" u="none" strike="noStrike" cap="none">
                <a:solidFill>
                  <a:srgbClr val="C00000"/>
                </a:solidFill>
                <a:latin typeface="Calibri"/>
                <a:ea typeface="Calibri"/>
                <a:cs typeface="Calibri"/>
                <a:sym typeface="Calibri"/>
              </a:rPr>
            </a:br>
            <a:br>
              <a:rPr lang="fr-FR" sz="2000" b="1" i="0" u="none" strike="noStrike" cap="none">
                <a:solidFill>
                  <a:srgbClr val="C00000"/>
                </a:solidFill>
                <a:latin typeface="Calibri"/>
                <a:ea typeface="Calibri"/>
                <a:cs typeface="Calibri"/>
                <a:sym typeface="Calibri"/>
              </a:rPr>
            </a:br>
            <a:r>
              <a:rPr lang="fr-FR" sz="2000" b="1" i="0" u="none" strike="noStrike" cap="none">
                <a:solidFill>
                  <a:srgbClr val="C00000"/>
                </a:solidFill>
                <a:latin typeface="Calibri"/>
                <a:ea typeface="Calibri"/>
                <a:cs typeface="Calibri"/>
                <a:sym typeface="Calibri"/>
              </a:rPr>
              <a:t>AU : 2018 -2019 </a:t>
            </a:r>
            <a:endParaRPr sz="2000" b="1" i="0" u="none" strike="noStrike" cap="none">
              <a:solidFill>
                <a:srgbClr val="C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
          <p:cNvSpPr txBox="1">
            <a:spLocks noGrp="1"/>
          </p:cNvSpPr>
          <p:nvPr>
            <p:ph type="title"/>
          </p:nvPr>
        </p:nvSpPr>
        <p:spPr>
          <a:xfrm>
            <a:off x="1414670" y="32067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b="1"/>
              <a:t>Plan:</a:t>
            </a:r>
            <a:endParaRPr b="1"/>
          </a:p>
        </p:txBody>
      </p:sp>
      <p:sp>
        <p:nvSpPr>
          <p:cNvPr id="242" name="Google Shape;242;p2"/>
          <p:cNvSpPr txBox="1">
            <a:spLocks noGrp="1"/>
          </p:cNvSpPr>
          <p:nvPr>
            <p:ph type="body" idx="1"/>
          </p:nvPr>
        </p:nvSpPr>
        <p:spPr>
          <a:xfrm>
            <a:off x="2142309" y="1371600"/>
            <a:ext cx="9113826" cy="48053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endParaRPr sz="2400" b="1"/>
          </a:p>
          <a:p>
            <a:pPr marL="514350" lvl="0" indent="-514350" algn="l" rtl="0">
              <a:lnSpc>
                <a:spcPct val="90000"/>
              </a:lnSpc>
              <a:spcBef>
                <a:spcPts val="1000"/>
              </a:spcBef>
              <a:spcAft>
                <a:spcPts val="0"/>
              </a:spcAft>
              <a:buClr>
                <a:schemeClr val="dk1"/>
              </a:buClr>
              <a:buSzPts val="2400"/>
              <a:buFont typeface="Calibri"/>
              <a:buAutoNum type="romanUcPeriod"/>
            </a:pPr>
            <a:r>
              <a:rPr lang="fr-FR" sz="2400" b="1"/>
              <a:t>Objectif de l’atelier</a:t>
            </a:r>
            <a:endParaRPr/>
          </a:p>
          <a:p>
            <a:pPr marL="514350" lvl="0" indent="-514350" algn="l" rtl="0">
              <a:lnSpc>
                <a:spcPct val="90000"/>
              </a:lnSpc>
              <a:spcBef>
                <a:spcPts val="1000"/>
              </a:spcBef>
              <a:spcAft>
                <a:spcPts val="0"/>
              </a:spcAft>
              <a:buClr>
                <a:schemeClr val="dk1"/>
              </a:buClr>
              <a:buSzPts val="2400"/>
              <a:buFont typeface="Calibri"/>
              <a:buAutoNum type="romanUcPeriod"/>
            </a:pPr>
            <a:r>
              <a:rPr lang="fr-FR" sz="2400" b="1"/>
              <a:t>Guide Installation Arduino</a:t>
            </a:r>
            <a:endParaRPr sz="2400" b="1"/>
          </a:p>
          <a:p>
            <a:pPr marL="514350" lvl="0" indent="-514350" algn="l" rtl="0">
              <a:lnSpc>
                <a:spcPct val="90000"/>
              </a:lnSpc>
              <a:spcBef>
                <a:spcPts val="1000"/>
              </a:spcBef>
              <a:spcAft>
                <a:spcPts val="0"/>
              </a:spcAft>
              <a:buClr>
                <a:schemeClr val="dk1"/>
              </a:buClr>
              <a:buSzPts val="2400"/>
              <a:buFont typeface="Calibri"/>
              <a:buAutoNum type="romanUcPeriod"/>
            </a:pPr>
            <a:r>
              <a:rPr lang="fr-FR" sz="2400" b="1"/>
              <a:t>Guide Utilisation Arduino</a:t>
            </a:r>
            <a:endParaRPr sz="2400" b="1"/>
          </a:p>
          <a:p>
            <a:pPr marL="514350" lvl="0" indent="-514350" algn="l" rtl="0">
              <a:lnSpc>
                <a:spcPct val="90000"/>
              </a:lnSpc>
              <a:spcBef>
                <a:spcPts val="1000"/>
              </a:spcBef>
              <a:spcAft>
                <a:spcPts val="0"/>
              </a:spcAft>
              <a:buClr>
                <a:schemeClr val="dk1"/>
              </a:buClr>
              <a:buSzPts val="2400"/>
              <a:buFont typeface="Calibri"/>
              <a:buAutoNum type="romanUcPeriod"/>
            </a:pPr>
            <a:r>
              <a:rPr lang="fr-FR" sz="2400" b="1"/>
              <a:t>Premier Montage de test</a:t>
            </a:r>
            <a:endParaRPr/>
          </a:p>
          <a:p>
            <a:pPr marL="971550" lvl="1" indent="-514350" algn="l" rtl="0">
              <a:lnSpc>
                <a:spcPct val="90000"/>
              </a:lnSpc>
              <a:spcBef>
                <a:spcPts val="500"/>
              </a:spcBef>
              <a:spcAft>
                <a:spcPts val="0"/>
              </a:spcAft>
              <a:buClr>
                <a:schemeClr val="dk1"/>
              </a:buClr>
              <a:buSzPts val="2000"/>
              <a:buFont typeface="Calibri"/>
              <a:buAutoNum type="arabicPeriod"/>
            </a:pPr>
            <a:r>
              <a:rPr lang="fr-FR" sz="2000" b="1"/>
              <a:t>Réalisation du montage</a:t>
            </a:r>
            <a:endParaRPr/>
          </a:p>
          <a:p>
            <a:pPr marL="971550" lvl="1" indent="-514350" algn="l" rtl="0">
              <a:lnSpc>
                <a:spcPct val="90000"/>
              </a:lnSpc>
              <a:spcBef>
                <a:spcPts val="500"/>
              </a:spcBef>
              <a:spcAft>
                <a:spcPts val="0"/>
              </a:spcAft>
              <a:buClr>
                <a:schemeClr val="dk1"/>
              </a:buClr>
              <a:buSzPts val="2000"/>
              <a:buFont typeface="Calibri"/>
              <a:buAutoNum type="arabicPeriod"/>
            </a:pPr>
            <a:r>
              <a:rPr lang="fr-FR" sz="2000" b="1"/>
              <a:t>Implémentation du montage</a:t>
            </a:r>
            <a:endParaRPr sz="2400" b="1"/>
          </a:p>
          <a:p>
            <a:pPr marL="514350" lvl="0" indent="-514350" algn="l" rtl="0">
              <a:lnSpc>
                <a:spcPct val="90000"/>
              </a:lnSpc>
              <a:spcBef>
                <a:spcPts val="1000"/>
              </a:spcBef>
              <a:spcAft>
                <a:spcPts val="0"/>
              </a:spcAft>
              <a:buClr>
                <a:schemeClr val="dk1"/>
              </a:buClr>
              <a:buSzPts val="2400"/>
              <a:buFont typeface="Calibri"/>
              <a:buAutoNum type="romanUcPeriod"/>
            </a:pPr>
            <a:r>
              <a:rPr lang="fr-FR" sz="2400" b="1"/>
              <a:t>Deuxième Montage: QT-Arduino</a:t>
            </a:r>
            <a:endParaRPr sz="2400" b="1"/>
          </a:p>
          <a:p>
            <a:pPr marL="971550" lvl="1" indent="-514350" algn="l" rtl="0">
              <a:lnSpc>
                <a:spcPct val="90000"/>
              </a:lnSpc>
              <a:spcBef>
                <a:spcPts val="500"/>
              </a:spcBef>
              <a:spcAft>
                <a:spcPts val="0"/>
              </a:spcAft>
              <a:buClr>
                <a:schemeClr val="dk1"/>
              </a:buClr>
              <a:buSzPts val="1600"/>
              <a:buFont typeface="Calibri"/>
              <a:buAutoNum type="arabicPeriod"/>
            </a:pPr>
            <a:r>
              <a:rPr lang="fr-FR" sz="2000" b="1"/>
              <a:t>Implémentation du code Arduino</a:t>
            </a:r>
            <a:endParaRPr sz="2000" b="1"/>
          </a:p>
          <a:p>
            <a:pPr marL="971550" lvl="1" indent="-514350" algn="l" rtl="0">
              <a:lnSpc>
                <a:spcPct val="90000"/>
              </a:lnSpc>
              <a:spcBef>
                <a:spcPts val="500"/>
              </a:spcBef>
              <a:spcAft>
                <a:spcPts val="0"/>
              </a:spcAft>
              <a:buClr>
                <a:schemeClr val="dk1"/>
              </a:buClr>
              <a:buSzPts val="2000"/>
              <a:buFont typeface="Calibri"/>
              <a:buAutoNum type="arabicPeriod"/>
            </a:pPr>
            <a:r>
              <a:rPr lang="fr-FR" sz="2000" b="1"/>
              <a:t>Implémentation du code QT</a:t>
            </a:r>
            <a:endParaRPr/>
          </a:p>
          <a:p>
            <a:pPr marL="971550" lvl="1" indent="-387350" algn="l" rtl="0">
              <a:lnSpc>
                <a:spcPct val="90000"/>
              </a:lnSpc>
              <a:spcBef>
                <a:spcPts val="500"/>
              </a:spcBef>
              <a:spcAft>
                <a:spcPts val="0"/>
              </a:spcAft>
              <a:buClr>
                <a:schemeClr val="dk1"/>
              </a:buClr>
              <a:buSzPts val="2000"/>
              <a:buFont typeface="Calibri"/>
              <a:buNone/>
            </a:pPr>
            <a:endParaRPr sz="2000" b="1"/>
          </a:p>
        </p:txBody>
      </p:sp>
      <p:sp>
        <p:nvSpPr>
          <p:cNvPr id="243" name="Google Shape;243;p2"/>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244" name="Google Shape;244;p2"/>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a:t>   </a:t>
            </a:r>
            <a:r>
              <a:rPr lang="fr-FR">
                <a:latin typeface="Arial Black"/>
                <a:ea typeface="Arial Black"/>
                <a:cs typeface="Arial Black"/>
                <a:sym typeface="Arial Black"/>
              </a:rPr>
              <a:t>Objectif</a:t>
            </a:r>
            <a:r>
              <a:rPr lang="fr-FR"/>
              <a:t> </a:t>
            </a:r>
            <a:endParaRPr/>
          </a:p>
        </p:txBody>
      </p:sp>
      <p:sp>
        <p:nvSpPr>
          <p:cNvPr id="250" name="Google Shape;250;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fr-FR"/>
              <a:t>L’objectif final de cet atelier est d’implémenter une interface graphique  QT permettant de contrôler et régler la luminosité de deux LED.</a:t>
            </a:r>
            <a:endParaRPr/>
          </a:p>
          <a:p>
            <a:pPr marL="228600" lvl="0" indent="-50800" algn="just" rtl="0">
              <a:lnSpc>
                <a:spcPct val="90000"/>
              </a:lnSpc>
              <a:spcBef>
                <a:spcPts val="1000"/>
              </a:spcBef>
              <a:spcAft>
                <a:spcPts val="0"/>
              </a:spcAft>
              <a:buClr>
                <a:schemeClr val="dk1"/>
              </a:buClr>
              <a:buSzPts val="2800"/>
              <a:buNone/>
            </a:pPr>
            <a:endParaRPr/>
          </a:p>
          <a:p>
            <a:pPr marL="228600" lvl="0" indent="-50800" algn="just" rtl="0">
              <a:lnSpc>
                <a:spcPct val="90000"/>
              </a:lnSpc>
              <a:spcBef>
                <a:spcPts val="1000"/>
              </a:spcBef>
              <a:spcAft>
                <a:spcPts val="0"/>
              </a:spcAft>
              <a:buClr>
                <a:schemeClr val="dk1"/>
              </a:buClr>
              <a:buSzPts val="2800"/>
              <a:buNone/>
            </a:pPr>
            <a:endParaRPr/>
          </a:p>
        </p:txBody>
      </p:sp>
      <p:sp>
        <p:nvSpPr>
          <p:cNvPr id="251" name="Google Shape;251;p3"/>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252" name="Google Shape;252;p3"/>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3</a:t>
            </a:fld>
            <a:endParaRPr/>
          </a:p>
        </p:txBody>
      </p:sp>
      <p:pic>
        <p:nvPicPr>
          <p:cNvPr id="253" name="Google Shape;253;p3"/>
          <p:cNvPicPr preferRelativeResize="0"/>
          <p:nvPr/>
        </p:nvPicPr>
        <p:blipFill rotWithShape="1">
          <a:blip r:embed="rId3">
            <a:alphaModFix/>
          </a:blip>
          <a:srcRect/>
          <a:stretch/>
        </p:blipFill>
        <p:spPr>
          <a:xfrm>
            <a:off x="3374135" y="2908880"/>
            <a:ext cx="5010210" cy="263194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
          <p:cNvSpPr txBox="1">
            <a:spLocks noGrp="1"/>
          </p:cNvSpPr>
          <p:nvPr>
            <p:ph type="title"/>
          </p:nvPr>
        </p:nvSpPr>
        <p:spPr>
          <a:xfrm>
            <a:off x="947529" y="40488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Black"/>
              <a:buNone/>
            </a:pPr>
            <a:r>
              <a:rPr lang="fr-FR">
                <a:latin typeface="Arial Black"/>
                <a:ea typeface="Arial Black"/>
                <a:cs typeface="Arial Black"/>
                <a:sym typeface="Arial Black"/>
              </a:rPr>
              <a:t> Pour commencer</a:t>
            </a:r>
            <a:endParaRPr>
              <a:latin typeface="Arial Black"/>
              <a:ea typeface="Arial Black"/>
              <a:cs typeface="Arial Black"/>
              <a:sym typeface="Arial Black"/>
            </a:endParaRPr>
          </a:p>
        </p:txBody>
      </p:sp>
      <p:sp>
        <p:nvSpPr>
          <p:cNvPr id="259" name="Google Shape;259;p4"/>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260" name="Google Shape;260;p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4</a:t>
            </a:fld>
            <a:endParaRPr/>
          </a:p>
        </p:txBody>
      </p:sp>
      <p:sp>
        <p:nvSpPr>
          <p:cNvPr id="261" name="Google Shape;261;p4"/>
          <p:cNvSpPr txBox="1"/>
          <p:nvPr/>
        </p:nvSpPr>
        <p:spPr>
          <a:xfrm>
            <a:off x="8610600" y="6356350"/>
            <a:ext cx="2743199"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rgbClr val="888888"/>
                </a:solidFill>
                <a:latin typeface="Calibri"/>
                <a:ea typeface="Calibri"/>
                <a:cs typeface="Calibri"/>
                <a:sym typeface="Calibri"/>
              </a:rPr>
              <a:t>4</a:t>
            </a:fld>
            <a:endParaRPr sz="1200" b="0" i="0" u="none" strike="noStrike" cap="none">
              <a:solidFill>
                <a:srgbClr val="888888"/>
              </a:solidFill>
              <a:latin typeface="Calibri"/>
              <a:ea typeface="Calibri"/>
              <a:cs typeface="Calibri"/>
              <a:sym typeface="Calibri"/>
            </a:endParaRPr>
          </a:p>
        </p:txBody>
      </p:sp>
      <p:sp>
        <p:nvSpPr>
          <p:cNvPr id="262" name="Google Shape;262;p4"/>
          <p:cNvSpPr/>
          <p:nvPr/>
        </p:nvSpPr>
        <p:spPr>
          <a:xfrm>
            <a:off x="523836" y="1571612"/>
            <a:ext cx="9001188" cy="1138773"/>
          </a:xfrm>
          <a:prstGeom prst="rect">
            <a:avLst/>
          </a:prstGeom>
          <a:noFill/>
          <a:ln>
            <a:noFill/>
          </a:ln>
        </p:spPr>
        <p:txBody>
          <a:bodyPr spcFirstLastPara="1" wrap="square" lIns="91425" tIns="45700" rIns="91425" bIns="45700" anchor="t" anchorCtr="0">
            <a:spAutoFit/>
          </a:bodyPr>
          <a:lstStyle/>
          <a:p>
            <a:pPr marL="457200" marR="0" lvl="1" indent="-165100" algn="l" rtl="0">
              <a:lnSpc>
                <a:spcPct val="100000"/>
              </a:lnSpc>
              <a:spcBef>
                <a:spcPts val="0"/>
              </a:spcBef>
              <a:spcAft>
                <a:spcPts val="0"/>
              </a:spcAft>
              <a:buClr>
                <a:schemeClr val="dk1"/>
              </a:buClr>
              <a:buSzPts val="2600"/>
              <a:buFont typeface="Arial"/>
              <a:buChar char="•"/>
            </a:pPr>
            <a:r>
              <a:rPr lang="fr-FR" sz="2600" b="0" i="0" u="none" strike="noStrike" cap="none">
                <a:solidFill>
                  <a:schemeClr val="dk1"/>
                </a:solidFill>
                <a:latin typeface="Calibri"/>
                <a:ea typeface="Calibri"/>
                <a:cs typeface="Calibri"/>
                <a:sym typeface="Calibri"/>
              </a:rPr>
              <a:t> Télécharger &amp; installer l’environnement Arduino (IDE)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fr-FR" sz="2400" b="1" i="0" u="sng" strike="noStrike" cap="none">
                <a:solidFill>
                  <a:srgbClr val="2E75B5"/>
                </a:solidFill>
                <a:latin typeface="Calibri"/>
                <a:ea typeface="Calibri"/>
                <a:cs typeface="Calibri"/>
                <a:sym typeface="Calibri"/>
              </a:rPr>
              <a:t>https://www.arduino.cc/en/Main/Software</a:t>
            </a:r>
            <a:endParaRPr sz="2400" b="0" i="0" u="sng" strike="noStrike" cap="none">
              <a:solidFill>
                <a:srgbClr val="2E75B5"/>
              </a:solidFill>
              <a:latin typeface="Calibri"/>
              <a:ea typeface="Calibri"/>
              <a:cs typeface="Calibri"/>
              <a:sym typeface="Calibri"/>
            </a:endParaRPr>
          </a:p>
        </p:txBody>
      </p:sp>
      <p:pic>
        <p:nvPicPr>
          <p:cNvPr id="263" name="Google Shape;263;p4"/>
          <p:cNvPicPr preferRelativeResize="0"/>
          <p:nvPr/>
        </p:nvPicPr>
        <p:blipFill rotWithShape="1">
          <a:blip r:embed="rId3">
            <a:alphaModFix/>
          </a:blip>
          <a:srcRect/>
          <a:stretch/>
        </p:blipFill>
        <p:spPr>
          <a:xfrm>
            <a:off x="1471069" y="2779795"/>
            <a:ext cx="8753475" cy="33813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5"/>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pic>
        <p:nvPicPr>
          <p:cNvPr id="269" name="Google Shape;269;p5" descr="C:\Esprit_Halim\Projet1A\WorkshopArduino\Formation\liaisonUSB.jpg"/>
          <p:cNvPicPr preferRelativeResize="0"/>
          <p:nvPr/>
        </p:nvPicPr>
        <p:blipFill rotWithShape="1">
          <a:blip r:embed="rId3">
            <a:alphaModFix/>
          </a:blip>
          <a:srcRect/>
          <a:stretch/>
        </p:blipFill>
        <p:spPr>
          <a:xfrm>
            <a:off x="309522" y="2857496"/>
            <a:ext cx="5121302" cy="1928802"/>
          </a:xfrm>
          <a:prstGeom prst="rect">
            <a:avLst/>
          </a:prstGeom>
          <a:noFill/>
          <a:ln>
            <a:noFill/>
          </a:ln>
        </p:spPr>
      </p:pic>
      <p:sp>
        <p:nvSpPr>
          <p:cNvPr id="270" name="Google Shape;270;p5"/>
          <p:cNvSpPr/>
          <p:nvPr/>
        </p:nvSpPr>
        <p:spPr>
          <a:xfrm>
            <a:off x="452398" y="1714488"/>
            <a:ext cx="5286412" cy="64633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chemeClr val="dk1"/>
              </a:buClr>
              <a:buSzPts val="2600"/>
              <a:buFont typeface="Arial"/>
              <a:buChar char="•"/>
            </a:pPr>
            <a:r>
              <a:rPr lang="fr-FR" sz="2600" b="0" i="0" u="none" strike="noStrike" cap="none">
                <a:solidFill>
                  <a:schemeClr val="dk1"/>
                </a:solidFill>
                <a:latin typeface="Calibri"/>
                <a:ea typeface="Calibri"/>
                <a:cs typeface="Calibri"/>
                <a:sym typeface="Calibri"/>
              </a:rPr>
              <a:t> Définir le port  de communication</a:t>
            </a:r>
            <a:endParaRPr sz="1400" b="0" i="0" u="none" strike="noStrike" cap="none">
              <a:solidFill>
                <a:srgbClr val="000000"/>
              </a:solidFill>
              <a:latin typeface="Arial"/>
              <a:ea typeface="Arial"/>
              <a:cs typeface="Arial"/>
              <a:sym typeface="Arial"/>
            </a:endParaRPr>
          </a:p>
        </p:txBody>
      </p:sp>
      <p:pic>
        <p:nvPicPr>
          <p:cNvPr id="271" name="Google Shape;271;p5"/>
          <p:cNvPicPr preferRelativeResize="0"/>
          <p:nvPr/>
        </p:nvPicPr>
        <p:blipFill rotWithShape="1">
          <a:blip r:embed="rId4">
            <a:alphaModFix/>
          </a:blip>
          <a:srcRect/>
          <a:stretch/>
        </p:blipFill>
        <p:spPr>
          <a:xfrm>
            <a:off x="5595934" y="2285992"/>
            <a:ext cx="6204646" cy="2928958"/>
          </a:xfrm>
          <a:prstGeom prst="rect">
            <a:avLst/>
          </a:prstGeom>
          <a:noFill/>
          <a:ln>
            <a:noFill/>
          </a:ln>
        </p:spPr>
      </p:pic>
      <p:sp>
        <p:nvSpPr>
          <p:cNvPr id="272" name="Google Shape;272;p5"/>
          <p:cNvSpPr/>
          <p:nvPr/>
        </p:nvSpPr>
        <p:spPr>
          <a:xfrm>
            <a:off x="2381224" y="5643578"/>
            <a:ext cx="5715040" cy="657793"/>
          </a:xfrm>
          <a:prstGeom prst="rect">
            <a:avLst/>
          </a:prstGeom>
          <a:solidFill>
            <a:schemeClr val="accent1"/>
          </a:solidFill>
          <a:ln w="1905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457200" marR="0" lvl="1" indent="0" algn="l" rtl="0">
              <a:lnSpc>
                <a:spcPct val="100000"/>
              </a:lnSpc>
              <a:spcBef>
                <a:spcPts val="0"/>
              </a:spcBef>
              <a:spcAft>
                <a:spcPts val="0"/>
              </a:spcAft>
              <a:buClr>
                <a:srgbClr val="000000"/>
              </a:buClr>
              <a:buSzPts val="2600"/>
              <a:buFont typeface="Arial"/>
              <a:buNone/>
            </a:pPr>
            <a:r>
              <a:rPr lang="fr-FR" sz="2600" b="0" i="0" u="none" strike="noStrike" cap="none">
                <a:solidFill>
                  <a:schemeClr val="dk1"/>
                </a:solidFill>
                <a:latin typeface="Calibri"/>
                <a:ea typeface="Calibri"/>
                <a:cs typeface="Calibri"/>
                <a:sym typeface="Calibri"/>
              </a:rPr>
              <a:t>Si nécessaire, installer les pilotes !!!</a:t>
            </a:r>
            <a:endParaRPr sz="2600" b="0" i="0" u="none" strike="noStrike" cap="none">
              <a:solidFill>
                <a:schemeClr val="dk1"/>
              </a:solidFill>
              <a:latin typeface="Calibri"/>
              <a:ea typeface="Calibri"/>
              <a:cs typeface="Calibri"/>
              <a:sym typeface="Calibri"/>
            </a:endParaRPr>
          </a:p>
        </p:txBody>
      </p:sp>
      <p:pic>
        <p:nvPicPr>
          <p:cNvPr id="273" name="Google Shape;273;p5" descr="C:\Users\halim kacem\Documents\Halim\These\PresentationFinal\1327401688olK4jE.jpg"/>
          <p:cNvPicPr preferRelativeResize="0"/>
          <p:nvPr/>
        </p:nvPicPr>
        <p:blipFill rotWithShape="1">
          <a:blip r:embed="rId5">
            <a:alphaModFix/>
          </a:blip>
          <a:srcRect/>
          <a:stretch/>
        </p:blipFill>
        <p:spPr>
          <a:xfrm>
            <a:off x="1381092" y="5715016"/>
            <a:ext cx="648120" cy="566777"/>
          </a:xfrm>
          <a:prstGeom prst="rect">
            <a:avLst/>
          </a:prstGeom>
          <a:noFill/>
          <a:ln>
            <a:noFill/>
          </a:ln>
        </p:spPr>
      </p:pic>
      <p:sp>
        <p:nvSpPr>
          <p:cNvPr id="274" name="Google Shape;274;p5"/>
          <p:cNvSpPr txBox="1">
            <a:spLocks noGrp="1"/>
          </p:cNvSpPr>
          <p:nvPr>
            <p:ph type="title"/>
          </p:nvPr>
        </p:nvSpPr>
        <p:spPr>
          <a:xfrm>
            <a:off x="947529" y="40488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Black"/>
              <a:buNone/>
            </a:pPr>
            <a:r>
              <a:rPr lang="fr-FR">
                <a:latin typeface="Arial Black"/>
                <a:ea typeface="Arial Black"/>
                <a:cs typeface="Arial Black"/>
                <a:sym typeface="Arial Black"/>
              </a:rPr>
              <a:t> Pour commencer</a:t>
            </a:r>
            <a:endParaRPr>
              <a:latin typeface="Arial Black"/>
              <a:ea typeface="Arial Black"/>
              <a:cs typeface="Arial Black"/>
              <a:sym typeface="Arial Black"/>
            </a:endParaRPr>
          </a:p>
        </p:txBody>
      </p:sp>
      <p:sp>
        <p:nvSpPr>
          <p:cNvPr id="275" name="Google Shape;275;p5"/>
          <p:cNvSpPr txBox="1"/>
          <p:nvPr/>
        </p:nvSpPr>
        <p:spPr>
          <a:xfrm>
            <a:off x="8610600" y="6356350"/>
            <a:ext cx="2743199"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rgbClr val="888888"/>
                </a:solidFill>
                <a:latin typeface="Calibri"/>
                <a:ea typeface="Calibri"/>
                <a:cs typeface="Calibri"/>
                <a:sym typeface="Calibri"/>
              </a:rPr>
              <a:t>5</a:t>
            </a:fld>
            <a:endParaRPr sz="1200" b="0" i="0" u="none" strike="noStrike" cap="none">
              <a:solidFill>
                <a:srgbClr val="888888"/>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6"/>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281" name="Google Shape;281;p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6</a:t>
            </a:fld>
            <a:endParaRPr/>
          </a:p>
        </p:txBody>
      </p:sp>
      <p:sp>
        <p:nvSpPr>
          <p:cNvPr id="282" name="Google Shape;282;p6"/>
          <p:cNvSpPr txBox="1"/>
          <p:nvPr/>
        </p:nvSpPr>
        <p:spPr>
          <a:xfrm>
            <a:off x="1217023" y="4257856"/>
            <a:ext cx="10515599" cy="1325562"/>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pPr>
            <a:r>
              <a:rPr lang="fr-FR" sz="4000" b="1" i="0" u="none" strike="noStrike" cap="none">
                <a:solidFill>
                  <a:schemeClr val="dk1"/>
                </a:solidFill>
                <a:latin typeface="Calibri"/>
                <a:ea typeface="Calibri"/>
                <a:cs typeface="Calibri"/>
                <a:sym typeface="Calibri"/>
              </a:rPr>
              <a:t>  Manipulation de l’interface </a:t>
            </a:r>
            <a:endParaRPr sz="4000" b="0" i="0" u="none" strike="noStrike" cap="none">
              <a:solidFill>
                <a:schemeClr val="dk1"/>
              </a:solidFill>
              <a:latin typeface="Calibri"/>
              <a:ea typeface="Calibri"/>
              <a:cs typeface="Calibri"/>
              <a:sym typeface="Calibri"/>
            </a:endParaRPr>
          </a:p>
        </p:txBody>
      </p:sp>
      <p:pic>
        <p:nvPicPr>
          <p:cNvPr id="283" name="Google Shape;283;p6" descr="i1.png"/>
          <p:cNvPicPr preferRelativeResize="0"/>
          <p:nvPr/>
        </p:nvPicPr>
        <p:blipFill rotWithShape="1">
          <a:blip r:embed="rId3">
            <a:alphaModFix/>
          </a:blip>
          <a:srcRect l="2084" t="6859" r="2081" b="2164"/>
          <a:stretch/>
        </p:blipFill>
        <p:spPr>
          <a:xfrm>
            <a:off x="613954" y="2103120"/>
            <a:ext cx="6720304" cy="4301428"/>
          </a:xfrm>
          <a:prstGeom prst="rect">
            <a:avLst/>
          </a:prstGeom>
          <a:noFill/>
          <a:ln>
            <a:noFill/>
          </a:ln>
        </p:spPr>
      </p:pic>
      <p:pic>
        <p:nvPicPr>
          <p:cNvPr id="284" name="Google Shape;284;p6" descr="play.png"/>
          <p:cNvPicPr preferRelativeResize="0"/>
          <p:nvPr/>
        </p:nvPicPr>
        <p:blipFill rotWithShape="1">
          <a:blip r:embed="rId4">
            <a:alphaModFix/>
          </a:blip>
          <a:srcRect/>
          <a:stretch/>
        </p:blipFill>
        <p:spPr>
          <a:xfrm>
            <a:off x="7715262" y="1785926"/>
            <a:ext cx="673109" cy="504828"/>
          </a:xfrm>
          <a:prstGeom prst="rect">
            <a:avLst/>
          </a:prstGeom>
          <a:noFill/>
          <a:ln>
            <a:noFill/>
          </a:ln>
        </p:spPr>
      </p:pic>
      <p:pic>
        <p:nvPicPr>
          <p:cNvPr id="285" name="Google Shape;285;p6" descr="export.png"/>
          <p:cNvPicPr preferRelativeResize="0"/>
          <p:nvPr/>
        </p:nvPicPr>
        <p:blipFill rotWithShape="1">
          <a:blip r:embed="rId5">
            <a:alphaModFix/>
          </a:blip>
          <a:srcRect/>
          <a:stretch/>
        </p:blipFill>
        <p:spPr>
          <a:xfrm>
            <a:off x="7715262" y="2428868"/>
            <a:ext cx="673109" cy="504828"/>
          </a:xfrm>
          <a:prstGeom prst="rect">
            <a:avLst/>
          </a:prstGeom>
          <a:noFill/>
          <a:ln>
            <a:noFill/>
          </a:ln>
        </p:spPr>
      </p:pic>
      <p:pic>
        <p:nvPicPr>
          <p:cNvPr id="286" name="Google Shape;286;p6" descr="new.png"/>
          <p:cNvPicPr preferRelativeResize="0"/>
          <p:nvPr/>
        </p:nvPicPr>
        <p:blipFill rotWithShape="1">
          <a:blip r:embed="rId6">
            <a:alphaModFix/>
          </a:blip>
          <a:srcRect/>
          <a:stretch/>
        </p:blipFill>
        <p:spPr>
          <a:xfrm>
            <a:off x="7810512" y="3500438"/>
            <a:ext cx="614579" cy="460930"/>
          </a:xfrm>
          <a:prstGeom prst="rect">
            <a:avLst/>
          </a:prstGeom>
          <a:noFill/>
          <a:ln>
            <a:noFill/>
          </a:ln>
        </p:spPr>
      </p:pic>
      <p:pic>
        <p:nvPicPr>
          <p:cNvPr id="287" name="Google Shape;287;p6" descr="open.png"/>
          <p:cNvPicPr preferRelativeResize="0"/>
          <p:nvPr/>
        </p:nvPicPr>
        <p:blipFill rotWithShape="1">
          <a:blip r:embed="rId7">
            <a:alphaModFix/>
          </a:blip>
          <a:srcRect/>
          <a:stretch/>
        </p:blipFill>
        <p:spPr>
          <a:xfrm>
            <a:off x="7810512" y="4357694"/>
            <a:ext cx="614579" cy="460930"/>
          </a:xfrm>
          <a:prstGeom prst="rect">
            <a:avLst/>
          </a:prstGeom>
          <a:noFill/>
          <a:ln>
            <a:noFill/>
          </a:ln>
        </p:spPr>
      </p:pic>
      <p:pic>
        <p:nvPicPr>
          <p:cNvPr id="288" name="Google Shape;288;p6" descr="save.png"/>
          <p:cNvPicPr preferRelativeResize="0"/>
          <p:nvPr/>
        </p:nvPicPr>
        <p:blipFill rotWithShape="1">
          <a:blip r:embed="rId8">
            <a:alphaModFix/>
          </a:blip>
          <a:srcRect/>
          <a:stretch/>
        </p:blipFill>
        <p:spPr>
          <a:xfrm>
            <a:off x="7810512" y="5143512"/>
            <a:ext cx="614579" cy="460930"/>
          </a:xfrm>
          <a:prstGeom prst="rect">
            <a:avLst/>
          </a:prstGeom>
          <a:noFill/>
          <a:ln>
            <a:noFill/>
          </a:ln>
        </p:spPr>
      </p:pic>
      <p:pic>
        <p:nvPicPr>
          <p:cNvPr id="289" name="Google Shape;289;p6" descr="serial_monitor.png"/>
          <p:cNvPicPr preferRelativeResize="0"/>
          <p:nvPr/>
        </p:nvPicPr>
        <p:blipFill rotWithShape="1">
          <a:blip r:embed="rId9">
            <a:alphaModFix/>
          </a:blip>
          <a:srcRect/>
          <a:stretch/>
        </p:blipFill>
        <p:spPr>
          <a:xfrm>
            <a:off x="7810512" y="5929330"/>
            <a:ext cx="614579" cy="460930"/>
          </a:xfrm>
          <a:prstGeom prst="rect">
            <a:avLst/>
          </a:prstGeom>
          <a:noFill/>
          <a:ln>
            <a:noFill/>
          </a:ln>
        </p:spPr>
      </p:pic>
      <p:sp>
        <p:nvSpPr>
          <p:cNvPr id="290" name="Google Shape;290;p6"/>
          <p:cNvSpPr txBox="1"/>
          <p:nvPr/>
        </p:nvSpPr>
        <p:spPr>
          <a:xfrm>
            <a:off x="8713173" y="1857375"/>
            <a:ext cx="1672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Compiler</a:t>
            </a:r>
            <a:endParaRPr sz="1800" b="1" i="0" u="none" strike="noStrike" cap="none">
              <a:solidFill>
                <a:schemeClr val="dk1"/>
              </a:solidFill>
              <a:latin typeface="Calibri"/>
              <a:ea typeface="Calibri"/>
              <a:cs typeface="Calibri"/>
              <a:sym typeface="Calibri"/>
            </a:endParaRPr>
          </a:p>
        </p:txBody>
      </p:sp>
      <p:sp>
        <p:nvSpPr>
          <p:cNvPr id="291" name="Google Shape;291;p6"/>
          <p:cNvSpPr txBox="1"/>
          <p:nvPr/>
        </p:nvSpPr>
        <p:spPr>
          <a:xfrm>
            <a:off x="8713174" y="2500300"/>
            <a:ext cx="1487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Téléverser</a:t>
            </a:r>
            <a:endParaRPr sz="1800" b="1" i="0" u="none" strike="noStrike" cap="none">
              <a:solidFill>
                <a:schemeClr val="dk1"/>
              </a:solidFill>
              <a:latin typeface="Calibri"/>
              <a:ea typeface="Calibri"/>
              <a:cs typeface="Calibri"/>
              <a:sym typeface="Calibri"/>
            </a:endParaRPr>
          </a:p>
        </p:txBody>
      </p:sp>
      <p:sp>
        <p:nvSpPr>
          <p:cNvPr id="292" name="Google Shape;292;p6"/>
          <p:cNvSpPr txBox="1"/>
          <p:nvPr/>
        </p:nvSpPr>
        <p:spPr>
          <a:xfrm>
            <a:off x="8808430" y="3571876"/>
            <a:ext cx="152638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Nouveau fichier</a:t>
            </a:r>
            <a:endParaRPr sz="1800" b="1" i="0" u="none" strike="noStrike" cap="none">
              <a:solidFill>
                <a:schemeClr val="dk1"/>
              </a:solidFill>
              <a:latin typeface="Calibri"/>
              <a:ea typeface="Calibri"/>
              <a:cs typeface="Calibri"/>
              <a:sym typeface="Calibri"/>
            </a:endParaRPr>
          </a:p>
        </p:txBody>
      </p:sp>
      <p:sp>
        <p:nvSpPr>
          <p:cNvPr id="293" name="Google Shape;293;p6"/>
          <p:cNvSpPr txBox="1"/>
          <p:nvPr/>
        </p:nvSpPr>
        <p:spPr>
          <a:xfrm>
            <a:off x="8808428" y="4429132"/>
            <a:ext cx="157767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Ouvrir un fichier</a:t>
            </a:r>
            <a:endParaRPr sz="1800" b="1" i="0" u="none" strike="noStrike" cap="none">
              <a:solidFill>
                <a:schemeClr val="dk1"/>
              </a:solidFill>
              <a:latin typeface="Calibri"/>
              <a:ea typeface="Calibri"/>
              <a:cs typeface="Calibri"/>
              <a:sym typeface="Calibri"/>
            </a:endParaRPr>
          </a:p>
        </p:txBody>
      </p:sp>
      <p:sp>
        <p:nvSpPr>
          <p:cNvPr id="294" name="Google Shape;294;p6"/>
          <p:cNvSpPr txBox="1"/>
          <p:nvPr/>
        </p:nvSpPr>
        <p:spPr>
          <a:xfrm>
            <a:off x="8808428" y="5214950"/>
            <a:ext cx="1577545"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Sauvegarder</a:t>
            </a:r>
            <a:endParaRPr sz="1800" b="1" i="0" u="none" strike="noStrike" cap="none">
              <a:solidFill>
                <a:schemeClr val="dk1"/>
              </a:solidFill>
              <a:latin typeface="Calibri"/>
              <a:ea typeface="Calibri"/>
              <a:cs typeface="Calibri"/>
              <a:sym typeface="Calibri"/>
            </a:endParaRPr>
          </a:p>
        </p:txBody>
      </p:sp>
      <p:sp>
        <p:nvSpPr>
          <p:cNvPr id="295" name="Google Shape;295;p6"/>
          <p:cNvSpPr txBox="1"/>
          <p:nvPr/>
        </p:nvSpPr>
        <p:spPr>
          <a:xfrm>
            <a:off x="8882082" y="6000768"/>
            <a:ext cx="220605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Ouvrir le moniteur série</a:t>
            </a:r>
            <a:endParaRPr sz="1800" b="1" i="0" u="none" strike="noStrike" cap="none">
              <a:solidFill>
                <a:schemeClr val="dk1"/>
              </a:solidFill>
              <a:latin typeface="Calibri"/>
              <a:ea typeface="Calibri"/>
              <a:cs typeface="Calibri"/>
              <a:sym typeface="Calibri"/>
            </a:endParaRPr>
          </a:p>
        </p:txBody>
      </p:sp>
      <p:sp>
        <p:nvSpPr>
          <p:cNvPr id="296" name="Google Shape;296;p6"/>
          <p:cNvSpPr txBox="1">
            <a:spLocks noGrp="1"/>
          </p:cNvSpPr>
          <p:nvPr>
            <p:ph type="title"/>
          </p:nvPr>
        </p:nvSpPr>
        <p:spPr>
          <a:xfrm>
            <a:off x="1165225" y="207963"/>
            <a:ext cx="10515600" cy="13255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Black"/>
              <a:buNone/>
            </a:pPr>
            <a:r>
              <a:rPr lang="fr-FR">
                <a:latin typeface="Arial Black"/>
                <a:ea typeface="Arial Black"/>
                <a:cs typeface="Arial Black"/>
                <a:sym typeface="Arial Black"/>
              </a:rPr>
              <a:t> Pour commencer</a:t>
            </a:r>
            <a:endParaRPr>
              <a:latin typeface="Arial Black"/>
              <a:ea typeface="Arial Black"/>
              <a:cs typeface="Arial Black"/>
              <a:sym typeface="Arial Black"/>
            </a:endParaRPr>
          </a:p>
        </p:txBody>
      </p:sp>
      <p:sp>
        <p:nvSpPr>
          <p:cNvPr id="297" name="Google Shape;297;p6"/>
          <p:cNvSpPr txBox="1"/>
          <p:nvPr/>
        </p:nvSpPr>
        <p:spPr>
          <a:xfrm>
            <a:off x="1084216" y="1515291"/>
            <a:ext cx="547333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Char char="•"/>
            </a:pPr>
            <a:r>
              <a:rPr lang="fr-FR" sz="1800" b="0" i="0" u="none" strike="noStrike" cap="none">
                <a:solidFill>
                  <a:schemeClr val="dk1"/>
                </a:solidFill>
                <a:latin typeface="Calibri"/>
                <a:ea typeface="Calibri"/>
                <a:cs typeface="Calibri"/>
                <a:sym typeface="Calibri"/>
              </a:rPr>
              <a:t> </a:t>
            </a:r>
            <a:r>
              <a:rPr lang="fr-FR" sz="1800" b="0" i="0" u="none" strike="noStrike" cap="none">
                <a:solidFill>
                  <a:schemeClr val="dk1"/>
                </a:solidFill>
                <a:latin typeface="Arial Black"/>
                <a:ea typeface="Arial Black"/>
                <a:cs typeface="Arial Black"/>
                <a:sym typeface="Arial Black"/>
              </a:rPr>
              <a:t>Manipulation de l’interface</a:t>
            </a:r>
            <a:endParaRPr sz="1800" b="0" i="0" u="none" strike="noStrike" cap="none">
              <a:solidFill>
                <a:schemeClr val="dk1"/>
              </a:solidFill>
              <a:latin typeface="Arial Black"/>
              <a:ea typeface="Arial Black"/>
              <a:cs typeface="Arial Black"/>
              <a:sym typeface="Arial Blac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7"/>
          <p:cNvSpPr txBox="1">
            <a:spLocks noGrp="1"/>
          </p:cNvSpPr>
          <p:nvPr>
            <p:ph type="ftr" idx="11"/>
          </p:nvPr>
        </p:nvSpPr>
        <p:spPr>
          <a:xfrm>
            <a:off x="4038600" y="6535254"/>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303" name="Google Shape;303;p7"/>
          <p:cNvSpPr txBox="1">
            <a:spLocks noGrp="1"/>
          </p:cNvSpPr>
          <p:nvPr>
            <p:ph type="sldNum" idx="12"/>
          </p:nvPr>
        </p:nvSpPr>
        <p:spPr>
          <a:xfrm>
            <a:off x="8610600" y="6535254"/>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7</a:t>
            </a:fld>
            <a:endParaRPr/>
          </a:p>
        </p:txBody>
      </p:sp>
      <p:sp>
        <p:nvSpPr>
          <p:cNvPr id="304" name="Google Shape;304;p7"/>
          <p:cNvSpPr txBox="1">
            <a:spLocks noGrp="1"/>
          </p:cNvSpPr>
          <p:nvPr>
            <p:ph type="title"/>
          </p:nvPr>
        </p:nvSpPr>
        <p:spPr>
          <a:xfrm>
            <a:off x="924338" y="308113"/>
            <a:ext cx="10429461" cy="138257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b="1">
                <a:solidFill>
                  <a:schemeClr val="dk1"/>
                </a:solidFill>
                <a:latin typeface="Calibri"/>
                <a:ea typeface="Calibri"/>
                <a:cs typeface="Calibri"/>
                <a:sym typeface="Calibri"/>
              </a:rPr>
              <a:t>  Guide d’Utilisation d’Arduino</a:t>
            </a:r>
            <a:endParaRPr/>
          </a:p>
        </p:txBody>
      </p:sp>
      <p:pic>
        <p:nvPicPr>
          <p:cNvPr id="305" name="Google Shape;305;p7"/>
          <p:cNvPicPr preferRelativeResize="0"/>
          <p:nvPr/>
        </p:nvPicPr>
        <p:blipFill rotWithShape="1">
          <a:blip r:embed="rId3">
            <a:alphaModFix/>
          </a:blip>
          <a:srcRect/>
          <a:stretch/>
        </p:blipFill>
        <p:spPr>
          <a:xfrm>
            <a:off x="7627352" y="1284180"/>
            <a:ext cx="2939927" cy="4961655"/>
          </a:xfrm>
          <a:prstGeom prst="rect">
            <a:avLst/>
          </a:prstGeom>
          <a:noFill/>
          <a:ln>
            <a:noFill/>
          </a:ln>
        </p:spPr>
      </p:pic>
      <p:sp>
        <p:nvSpPr>
          <p:cNvPr id="306" name="Google Shape;306;p7"/>
          <p:cNvSpPr/>
          <p:nvPr/>
        </p:nvSpPr>
        <p:spPr>
          <a:xfrm>
            <a:off x="1303255" y="1375364"/>
            <a:ext cx="9072626" cy="1500198"/>
          </a:xfrm>
          <a:prstGeom prst="rect">
            <a:avLst/>
          </a:prstGeom>
          <a:solidFill>
            <a:schemeClr val="accent1">
              <a:alpha val="30588"/>
            </a:schemeClr>
          </a:solidFill>
          <a:ln w="9525" cap="flat" cmpd="sng">
            <a:solidFill>
              <a:srgbClr val="6CAB42">
                <a:alpha val="0"/>
              </a:srgbClr>
            </a:solidFill>
            <a:prstDash val="solid"/>
            <a:miter lim="800000"/>
            <a:headEnd type="none" w="sm" len="sm"/>
            <a:tailEnd type="none" w="sm" len="sm"/>
          </a:ln>
        </p:spPr>
        <p:txBody>
          <a:bodyPr spcFirstLastPara="1" wrap="square" lIns="91425" tIns="45700" rIns="91425" bIns="45700" anchor="ctr" anchorCtr="0">
            <a:noAutofit/>
          </a:bodyPr>
          <a:lstStyle/>
          <a:p>
            <a:pPr marL="514350" marR="0" lvl="0" indent="-514350" algn="l" rtl="0">
              <a:lnSpc>
                <a:spcPct val="70000"/>
              </a:lnSpc>
              <a:spcBef>
                <a:spcPts val="0"/>
              </a:spcBef>
              <a:spcAft>
                <a:spcPts val="0"/>
              </a:spcAft>
              <a:buClr>
                <a:schemeClr val="dk1"/>
              </a:buClr>
              <a:buSzPts val="2789"/>
              <a:buFont typeface="Calibri"/>
              <a:buAutoNum type="arabicPeriod"/>
            </a:pPr>
            <a:r>
              <a:rPr lang="fr-FR" sz="2800" b="0" i="0" u="none" strike="noStrike" cap="none">
                <a:solidFill>
                  <a:schemeClr val="dk1"/>
                </a:solidFill>
                <a:latin typeface="Calibri"/>
                <a:ea typeface="Calibri"/>
                <a:cs typeface="Calibri"/>
                <a:sym typeface="Calibri"/>
              </a:rPr>
              <a:t>Écrire votre programme en C/C++</a:t>
            </a:r>
            <a:endParaRPr sz="1400" b="0" i="0" u="none" strike="noStrike" cap="none">
              <a:solidFill>
                <a:srgbClr val="000000"/>
              </a:solidFill>
              <a:latin typeface="Arial"/>
              <a:ea typeface="Arial"/>
              <a:cs typeface="Arial"/>
              <a:sym typeface="Arial"/>
            </a:endParaRPr>
          </a:p>
        </p:txBody>
      </p:sp>
      <p:sp>
        <p:nvSpPr>
          <p:cNvPr id="307" name="Google Shape;307;p7"/>
          <p:cNvSpPr/>
          <p:nvPr/>
        </p:nvSpPr>
        <p:spPr>
          <a:xfrm>
            <a:off x="1303255" y="2875562"/>
            <a:ext cx="9072626" cy="1537130"/>
          </a:xfrm>
          <a:prstGeom prst="rect">
            <a:avLst/>
          </a:prstGeom>
          <a:solidFill>
            <a:srgbClr val="7B7B7B">
              <a:alpha val="30588"/>
            </a:srgbClr>
          </a:solidFill>
          <a:ln w="9525" cap="flat" cmpd="sng">
            <a:solidFill>
              <a:srgbClr val="6CAB42">
                <a:alpha val="0"/>
              </a:srgbClr>
            </a:solidFill>
            <a:prstDash val="solid"/>
            <a:miter lim="800000"/>
            <a:headEnd type="none" w="sm" len="sm"/>
            <a:tailEnd type="none" w="sm" len="sm"/>
          </a:ln>
        </p:spPr>
        <p:txBody>
          <a:bodyPr spcFirstLastPara="1" wrap="square" lIns="91425" tIns="45700" rIns="91425" bIns="45700" anchor="ctr" anchorCtr="0">
            <a:noAutofit/>
          </a:bodyPr>
          <a:lstStyle/>
          <a:p>
            <a:pPr marL="457200" marR="0" lvl="0" indent="-457200" algn="l" rtl="0">
              <a:lnSpc>
                <a:spcPct val="70000"/>
              </a:lnSpc>
              <a:spcBef>
                <a:spcPts val="0"/>
              </a:spcBef>
              <a:spcAft>
                <a:spcPts val="0"/>
              </a:spcAft>
              <a:buClr>
                <a:schemeClr val="dk1"/>
              </a:buClr>
              <a:buSzPts val="2789"/>
              <a:buFont typeface="Calibri"/>
              <a:buAutoNum type="arabicPeriod" startAt="2"/>
            </a:pPr>
            <a:r>
              <a:rPr lang="fr-FR" sz="2800" b="0" i="0" u="none" strike="noStrike" cap="none">
                <a:solidFill>
                  <a:schemeClr val="dk1"/>
                </a:solidFill>
                <a:latin typeface="Calibri"/>
                <a:ea typeface="Calibri"/>
                <a:cs typeface="Calibri"/>
                <a:sym typeface="Calibri"/>
              </a:rPr>
              <a:t>Compiler votre code</a:t>
            </a:r>
            <a:endParaRPr sz="2800" b="0" i="0" u="none" strike="noStrike" cap="none">
              <a:solidFill>
                <a:schemeClr val="dk1"/>
              </a:solidFill>
              <a:latin typeface="Calibri"/>
              <a:ea typeface="Calibri"/>
              <a:cs typeface="Calibri"/>
              <a:sym typeface="Calibri"/>
            </a:endParaRPr>
          </a:p>
        </p:txBody>
      </p:sp>
      <p:sp>
        <p:nvSpPr>
          <p:cNvPr id="308" name="Google Shape;308;p7"/>
          <p:cNvSpPr/>
          <p:nvPr/>
        </p:nvSpPr>
        <p:spPr>
          <a:xfrm>
            <a:off x="1300829" y="4412692"/>
            <a:ext cx="9072626" cy="1714512"/>
          </a:xfrm>
          <a:prstGeom prst="rect">
            <a:avLst/>
          </a:prstGeom>
          <a:solidFill>
            <a:schemeClr val="accent6">
              <a:alpha val="30588"/>
            </a:schemeClr>
          </a:solidFill>
          <a:ln w="9525" cap="flat" cmpd="sng">
            <a:solidFill>
              <a:srgbClr val="6CAB42">
                <a:alpha val="0"/>
              </a:srgbClr>
            </a:solidFill>
            <a:prstDash val="solid"/>
            <a:miter lim="800000"/>
            <a:headEnd type="none" w="sm" len="sm"/>
            <a:tailEnd type="none" w="sm" len="sm"/>
          </a:ln>
        </p:spPr>
        <p:txBody>
          <a:bodyPr spcFirstLastPara="1" wrap="square" lIns="91425" tIns="45700" rIns="91425" bIns="45700" anchor="ctr" anchorCtr="0">
            <a:noAutofit/>
          </a:bodyPr>
          <a:lstStyle/>
          <a:p>
            <a:pPr marL="457200" marR="0" lvl="0" indent="-457200" algn="l" rtl="0">
              <a:lnSpc>
                <a:spcPct val="70000"/>
              </a:lnSpc>
              <a:spcBef>
                <a:spcPts val="0"/>
              </a:spcBef>
              <a:spcAft>
                <a:spcPts val="0"/>
              </a:spcAft>
              <a:buClr>
                <a:schemeClr val="dk1"/>
              </a:buClr>
              <a:buSzPts val="2789"/>
              <a:buFont typeface="Calibri"/>
              <a:buAutoNum type="arabicPeriod" startAt="3"/>
            </a:pPr>
            <a:r>
              <a:rPr lang="fr-FR" sz="2800" b="0" i="0" u="none" strike="noStrike" cap="none">
                <a:solidFill>
                  <a:schemeClr val="dk1"/>
                </a:solidFill>
                <a:latin typeface="Calibri"/>
                <a:ea typeface="Calibri"/>
                <a:cs typeface="Calibri"/>
                <a:sym typeface="Calibri"/>
              </a:rPr>
              <a:t>chargement pour programmer la carte.</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6"/>
                                        </p:tgtEl>
                                        <p:attrNameLst>
                                          <p:attrName>style.visibility</p:attrName>
                                        </p:attrNameLst>
                                      </p:cBhvr>
                                      <p:to>
                                        <p:strVal val="visible"/>
                                      </p:to>
                                    </p:set>
                                    <p:animEffect transition="in" filter="fade">
                                      <p:cBhvr>
                                        <p:cTn id="7" dur="1000"/>
                                        <p:tgtEl>
                                          <p:spTgt spid="3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
                                        </p:tgtEl>
                                        <p:attrNameLst>
                                          <p:attrName>style.visibility</p:attrName>
                                        </p:attrNameLst>
                                      </p:cBhvr>
                                      <p:to>
                                        <p:strVal val="visible"/>
                                      </p:to>
                                    </p:set>
                                    <p:animEffect transition="in" filter="fade">
                                      <p:cBhvr>
                                        <p:cTn id="12" dur="1000"/>
                                        <p:tgtEl>
                                          <p:spTgt spid="30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8"/>
                                        </p:tgtEl>
                                        <p:attrNameLst>
                                          <p:attrName>style.visibility</p:attrName>
                                        </p:attrNameLst>
                                      </p:cBhvr>
                                      <p:to>
                                        <p:strVal val="visible"/>
                                      </p:to>
                                    </p:set>
                                    <p:animEffect transition="in" filter="fade">
                                      <p:cBhvr>
                                        <p:cTn id="17" dur="1000"/>
                                        <p:tgtEl>
                                          <p:spTgt spid="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8"/>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314" name="Google Shape;314;p8"/>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8</a:t>
            </a:fld>
            <a:endParaRPr/>
          </a:p>
        </p:txBody>
      </p:sp>
      <p:pic>
        <p:nvPicPr>
          <p:cNvPr id="315" name="Google Shape;315;p8" descr="Spark-Cloud-API-SparkFunction-Runs-00.jpg"/>
          <p:cNvPicPr preferRelativeResize="0"/>
          <p:nvPr/>
        </p:nvPicPr>
        <p:blipFill rotWithShape="1">
          <a:blip r:embed="rId3">
            <a:alphaModFix/>
          </a:blip>
          <a:srcRect/>
          <a:stretch/>
        </p:blipFill>
        <p:spPr>
          <a:xfrm>
            <a:off x="-120771" y="1357298"/>
            <a:ext cx="6722651" cy="4214842"/>
          </a:xfrm>
          <a:prstGeom prst="rect">
            <a:avLst/>
          </a:prstGeom>
          <a:noFill/>
          <a:ln>
            <a:noFill/>
          </a:ln>
        </p:spPr>
      </p:pic>
      <p:pic>
        <p:nvPicPr>
          <p:cNvPr id="316" name="Google Shape;316;p8"/>
          <p:cNvPicPr preferRelativeResize="0"/>
          <p:nvPr/>
        </p:nvPicPr>
        <p:blipFill rotWithShape="1">
          <a:blip r:embed="rId4">
            <a:alphaModFix/>
          </a:blip>
          <a:srcRect/>
          <a:stretch/>
        </p:blipFill>
        <p:spPr>
          <a:xfrm>
            <a:off x="8255545" y="1941284"/>
            <a:ext cx="3514725" cy="4181475"/>
          </a:xfrm>
          <a:prstGeom prst="rect">
            <a:avLst/>
          </a:prstGeom>
          <a:noFill/>
          <a:ln>
            <a:noFill/>
          </a:ln>
        </p:spPr>
      </p:pic>
      <p:sp>
        <p:nvSpPr>
          <p:cNvPr id="317" name="Google Shape;317;p8"/>
          <p:cNvSpPr/>
          <p:nvPr/>
        </p:nvSpPr>
        <p:spPr>
          <a:xfrm>
            <a:off x="309522" y="1426310"/>
            <a:ext cx="11673212" cy="857256"/>
          </a:xfrm>
          <a:prstGeom prst="rect">
            <a:avLst/>
          </a:prstGeom>
          <a:solidFill>
            <a:schemeClr val="accent1">
              <a:alpha val="30588"/>
            </a:schemeClr>
          </a:solidFill>
          <a:ln w="9525" cap="flat" cmpd="sng">
            <a:solidFill>
              <a:srgbClr val="6CAB42">
                <a:alpha val="0"/>
              </a:srgbClr>
            </a:solidFill>
            <a:prstDash val="solid"/>
            <a:miter lim="800000"/>
            <a:headEnd type="none" w="sm" len="sm"/>
            <a:tailEnd type="none" w="sm" len="sm"/>
          </a:ln>
        </p:spPr>
        <p:txBody>
          <a:bodyPr spcFirstLastPara="1" wrap="square" lIns="91425" tIns="45700" rIns="91425" bIns="45700" anchor="ctr" anchorCtr="0">
            <a:noAutofit/>
          </a:bodyPr>
          <a:lstStyle/>
          <a:p>
            <a:pPr marL="514350" marR="0" lvl="0" indent="-514350" algn="l" rtl="0">
              <a:lnSpc>
                <a:spcPct val="7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sp>
        <p:nvSpPr>
          <p:cNvPr id="318" name="Google Shape;318;p8"/>
          <p:cNvSpPr/>
          <p:nvPr/>
        </p:nvSpPr>
        <p:spPr>
          <a:xfrm>
            <a:off x="324349" y="2283566"/>
            <a:ext cx="11658385" cy="1073996"/>
          </a:xfrm>
          <a:prstGeom prst="rect">
            <a:avLst/>
          </a:prstGeom>
          <a:solidFill>
            <a:srgbClr val="FEE599">
              <a:alpha val="30588"/>
            </a:srgbClr>
          </a:solidFill>
          <a:ln w="9525" cap="flat" cmpd="sng">
            <a:solidFill>
              <a:srgbClr val="6CAB42">
                <a:alpha val="0"/>
              </a:srgbClr>
            </a:solidFill>
            <a:prstDash val="solid"/>
            <a:miter lim="800000"/>
            <a:headEnd type="none" w="sm" len="sm"/>
            <a:tailEnd type="none" w="sm" len="sm"/>
          </a:ln>
        </p:spPr>
        <p:txBody>
          <a:bodyPr spcFirstLastPara="1" wrap="square" lIns="91425" tIns="45700" rIns="91425" bIns="45700" anchor="ctr" anchorCtr="0">
            <a:noAutofit/>
          </a:bodyPr>
          <a:lstStyle/>
          <a:p>
            <a:pPr marL="457200" marR="0" lvl="0" indent="-457200" algn="l" rtl="0">
              <a:lnSpc>
                <a:spcPct val="7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sp>
        <p:nvSpPr>
          <p:cNvPr id="319" name="Google Shape;319;p8"/>
          <p:cNvSpPr/>
          <p:nvPr/>
        </p:nvSpPr>
        <p:spPr>
          <a:xfrm>
            <a:off x="348880" y="3431425"/>
            <a:ext cx="11633854" cy="2819250"/>
          </a:xfrm>
          <a:prstGeom prst="rect">
            <a:avLst/>
          </a:prstGeom>
          <a:solidFill>
            <a:schemeClr val="accent6">
              <a:alpha val="30588"/>
            </a:schemeClr>
          </a:solidFill>
          <a:ln w="9525" cap="flat" cmpd="sng">
            <a:solidFill>
              <a:srgbClr val="6CAB42">
                <a:alpha val="0"/>
              </a:srgbClr>
            </a:solidFill>
            <a:prstDash val="solid"/>
            <a:miter lim="800000"/>
            <a:headEnd type="none" w="sm" len="sm"/>
            <a:tailEnd type="none" w="sm" len="sm"/>
          </a:ln>
        </p:spPr>
        <p:txBody>
          <a:bodyPr spcFirstLastPara="1" wrap="square" lIns="91425" tIns="45700" rIns="91425" bIns="45700" anchor="ctr" anchorCtr="0">
            <a:noAutofit/>
          </a:bodyPr>
          <a:lstStyle/>
          <a:p>
            <a:pPr marL="457200" marR="0" lvl="0" indent="-457200" algn="l" rtl="0">
              <a:lnSpc>
                <a:spcPct val="70000"/>
              </a:lnSpc>
              <a:spcBef>
                <a:spcPts val="0"/>
              </a:spcBef>
              <a:spcAft>
                <a:spcPts val="0"/>
              </a:spcAft>
              <a:buClr>
                <a:srgbClr val="000000"/>
              </a:buClr>
              <a:buSzPts val="2000"/>
              <a:buFont typeface="Arial"/>
              <a:buNone/>
            </a:pPr>
            <a:endParaRPr sz="2000" b="1" i="1" u="none" strike="noStrike" cap="none">
              <a:solidFill>
                <a:srgbClr val="FF0000"/>
              </a:solidFill>
              <a:latin typeface="Calibri"/>
              <a:ea typeface="Calibri"/>
              <a:cs typeface="Calibri"/>
              <a:sym typeface="Calibri"/>
            </a:endParaRPr>
          </a:p>
        </p:txBody>
      </p:sp>
      <p:sp>
        <p:nvSpPr>
          <p:cNvPr id="320" name="Google Shape;320;p8"/>
          <p:cNvSpPr txBox="1"/>
          <p:nvPr/>
        </p:nvSpPr>
        <p:spPr>
          <a:xfrm>
            <a:off x="1152938" y="187090"/>
            <a:ext cx="10429461" cy="1382577"/>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Calibri"/>
              <a:buNone/>
            </a:pPr>
            <a:r>
              <a:rPr lang="fr-FR" sz="4400" b="1" i="0" u="none" strike="noStrike" cap="none">
                <a:solidFill>
                  <a:schemeClr val="dk1"/>
                </a:solidFill>
                <a:latin typeface="Calibri"/>
                <a:ea typeface="Calibri"/>
                <a:cs typeface="Calibri"/>
                <a:sym typeface="Calibri"/>
              </a:rPr>
              <a:t>  Guide d’Utilisation d’Arduino</a:t>
            </a:r>
            <a:endParaRPr sz="44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7"/>
                                        </p:tgtEl>
                                        <p:attrNameLst>
                                          <p:attrName>style.visibility</p:attrName>
                                        </p:attrNameLst>
                                      </p:cBhvr>
                                      <p:to>
                                        <p:strVal val="visible"/>
                                      </p:to>
                                    </p:set>
                                    <p:animEffect transition="in" filter="fade">
                                      <p:cBhvr>
                                        <p:cTn id="7" dur="1000"/>
                                        <p:tgtEl>
                                          <p:spTgt spid="3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8"/>
                                        </p:tgtEl>
                                        <p:attrNameLst>
                                          <p:attrName>style.visibility</p:attrName>
                                        </p:attrNameLst>
                                      </p:cBhvr>
                                      <p:to>
                                        <p:strVal val="visible"/>
                                      </p:to>
                                    </p:set>
                                    <p:animEffect transition="in" filter="fade">
                                      <p:cBhvr>
                                        <p:cTn id="12" dur="1000"/>
                                        <p:tgtEl>
                                          <p:spTgt spid="3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9"/>
                                        </p:tgtEl>
                                        <p:attrNameLst>
                                          <p:attrName>style.visibility</p:attrName>
                                        </p:attrNameLst>
                                      </p:cBhvr>
                                      <p:to>
                                        <p:strVal val="visible"/>
                                      </p:to>
                                    </p:set>
                                    <p:animEffect transition="in" filter="fade">
                                      <p:cBhvr>
                                        <p:cTn id="17" dur="1000"/>
                                        <p:tgtEl>
                                          <p:spTgt spid="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9"/>
          <p:cNvSpPr txBox="1">
            <a:spLocks noGrp="1"/>
          </p:cNvSpPr>
          <p:nvPr>
            <p:ph type="title"/>
          </p:nvPr>
        </p:nvSpPr>
        <p:spPr>
          <a:xfrm>
            <a:off x="947529" y="40488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Black"/>
              <a:buNone/>
            </a:pPr>
            <a:r>
              <a:rPr lang="fr-FR">
                <a:latin typeface="Arial Black"/>
                <a:ea typeface="Arial Black"/>
                <a:cs typeface="Arial Black"/>
                <a:sym typeface="Arial Black"/>
              </a:rPr>
              <a:t> Premier Montage de test</a:t>
            </a:r>
            <a:endParaRPr>
              <a:latin typeface="Arial Black"/>
              <a:ea typeface="Arial Black"/>
              <a:cs typeface="Arial Black"/>
              <a:sym typeface="Arial Black"/>
            </a:endParaRPr>
          </a:p>
        </p:txBody>
      </p:sp>
      <p:sp>
        <p:nvSpPr>
          <p:cNvPr id="326" name="Google Shape;326;p9"/>
          <p:cNvSpPr txBox="1">
            <a:spLocks noGrp="1"/>
          </p:cNvSpPr>
          <p:nvPr>
            <p:ph type="body" idx="1"/>
          </p:nvPr>
        </p:nvSpPr>
        <p:spPr>
          <a:xfrm>
            <a:off x="838200" y="1449977"/>
            <a:ext cx="10515600" cy="4726986"/>
          </a:xfrm>
          <a:prstGeom prst="rect">
            <a:avLst/>
          </a:prstGeom>
          <a:noFill/>
          <a:ln>
            <a:noFill/>
          </a:ln>
        </p:spPr>
        <p:txBody>
          <a:bodyPr spcFirstLastPara="1" wrap="square" lIns="91425" tIns="45700" rIns="91425" bIns="45700" anchor="t" anchorCtr="0">
            <a:normAutofit fontScale="92500" lnSpcReduction="20000"/>
          </a:bodyPr>
          <a:lstStyle/>
          <a:p>
            <a:pPr marL="0" lvl="0" indent="-164465" algn="l" rtl="0">
              <a:lnSpc>
                <a:spcPct val="90000"/>
              </a:lnSpc>
              <a:spcBef>
                <a:spcPts val="0"/>
              </a:spcBef>
              <a:spcAft>
                <a:spcPts val="0"/>
              </a:spcAft>
              <a:buClr>
                <a:schemeClr val="dk1"/>
              </a:buClr>
              <a:buSzPct val="100000"/>
              <a:buChar char="•"/>
            </a:pPr>
            <a:r>
              <a:rPr lang="fr-FR"/>
              <a:t> L’objectif de ce  montage est de faire clignoter une LED.</a:t>
            </a:r>
            <a:endParaRPr/>
          </a:p>
          <a:p>
            <a:pPr marL="0" lvl="0" indent="-164465" algn="l" rtl="0">
              <a:lnSpc>
                <a:spcPct val="90000"/>
              </a:lnSpc>
              <a:spcBef>
                <a:spcPts val="1000"/>
              </a:spcBef>
              <a:spcAft>
                <a:spcPts val="0"/>
              </a:spcAft>
              <a:buClr>
                <a:schemeClr val="dk1"/>
              </a:buClr>
              <a:buSzPct val="100000"/>
              <a:buChar char="•"/>
            </a:pPr>
            <a:r>
              <a:rPr lang="fr-FR"/>
              <a:t> Composants nécessaires pour ce montage:</a:t>
            </a:r>
            <a:endParaRPr/>
          </a:p>
          <a:p>
            <a:pPr marL="0" lvl="0" indent="0" algn="l" rtl="0">
              <a:lnSpc>
                <a:spcPct val="90000"/>
              </a:lnSpc>
              <a:spcBef>
                <a:spcPts val="1000"/>
              </a:spcBef>
              <a:spcAft>
                <a:spcPts val="0"/>
              </a:spcAft>
              <a:buClr>
                <a:schemeClr val="dk1"/>
              </a:buClr>
              <a:buSzPct val="100000"/>
              <a:buNone/>
            </a:pPr>
            <a:endParaRPr/>
          </a:p>
          <a:p>
            <a:pPr marL="0" lvl="0" indent="-164465" algn="l" rtl="0">
              <a:lnSpc>
                <a:spcPct val="90000"/>
              </a:lnSpc>
              <a:spcBef>
                <a:spcPts val="1000"/>
              </a:spcBef>
              <a:spcAft>
                <a:spcPts val="0"/>
              </a:spcAft>
              <a:buClr>
                <a:schemeClr val="dk1"/>
              </a:buClr>
              <a:buSzPct val="100000"/>
              <a:buFont typeface="Calibri"/>
              <a:buChar char="-"/>
            </a:pPr>
            <a:r>
              <a:rPr lang="fr-FR"/>
              <a:t> </a:t>
            </a:r>
            <a:r>
              <a:rPr lang="fr-FR" b="1"/>
              <a:t>Carte Arduino UNO.</a:t>
            </a:r>
            <a:endParaRPr/>
          </a:p>
          <a:p>
            <a:pPr marL="0" lvl="0" indent="-164465" algn="l" rtl="0">
              <a:lnSpc>
                <a:spcPct val="90000"/>
              </a:lnSpc>
              <a:spcBef>
                <a:spcPts val="1000"/>
              </a:spcBef>
              <a:spcAft>
                <a:spcPts val="0"/>
              </a:spcAft>
              <a:buClr>
                <a:schemeClr val="dk1"/>
              </a:buClr>
              <a:buSzPct val="100000"/>
              <a:buFont typeface="Calibri"/>
              <a:buChar char="-"/>
            </a:pPr>
            <a:r>
              <a:rPr lang="fr-FR"/>
              <a:t> </a:t>
            </a:r>
            <a:r>
              <a:rPr lang="fr-FR" b="1"/>
              <a:t>Plaque d'essai (</a:t>
            </a:r>
            <a:r>
              <a:rPr lang="fr-FR" b="1" i="1"/>
              <a:t>breadboard</a:t>
            </a:r>
            <a:r>
              <a:rPr lang="fr-FR" b="1"/>
              <a:t>).</a:t>
            </a:r>
            <a:endParaRPr/>
          </a:p>
          <a:p>
            <a:pPr marL="0" lvl="0" indent="-164465" algn="l" rtl="0">
              <a:lnSpc>
                <a:spcPct val="90000"/>
              </a:lnSpc>
              <a:spcBef>
                <a:spcPts val="1000"/>
              </a:spcBef>
              <a:spcAft>
                <a:spcPts val="0"/>
              </a:spcAft>
              <a:buClr>
                <a:schemeClr val="dk1"/>
              </a:buClr>
              <a:buSzPct val="100000"/>
              <a:buFont typeface="Calibri"/>
              <a:buChar char="-"/>
            </a:pPr>
            <a:r>
              <a:rPr lang="fr-FR" b="1"/>
              <a:t> 1 LED.</a:t>
            </a:r>
            <a:endParaRPr/>
          </a:p>
          <a:p>
            <a:pPr marL="0" lvl="0" indent="-164465" algn="l" rtl="0">
              <a:lnSpc>
                <a:spcPct val="90000"/>
              </a:lnSpc>
              <a:spcBef>
                <a:spcPts val="1000"/>
              </a:spcBef>
              <a:spcAft>
                <a:spcPts val="0"/>
              </a:spcAft>
              <a:buClr>
                <a:schemeClr val="dk1"/>
              </a:buClr>
              <a:buSzPct val="100000"/>
              <a:buFont typeface="Calibri"/>
              <a:buChar char="-"/>
            </a:pPr>
            <a:r>
              <a:rPr lang="fr-FR" b="1"/>
              <a:t>  Des fils de connexion.</a:t>
            </a:r>
            <a:endParaRPr/>
          </a:p>
          <a:p>
            <a:pPr marL="0" lvl="0" indent="0" algn="l" rtl="0">
              <a:lnSpc>
                <a:spcPct val="90000"/>
              </a:lnSpc>
              <a:spcBef>
                <a:spcPts val="1000"/>
              </a:spcBef>
              <a:spcAft>
                <a:spcPts val="0"/>
              </a:spcAft>
              <a:buClr>
                <a:schemeClr val="dk1"/>
              </a:buClr>
              <a:buSzPct val="100000"/>
              <a:buNone/>
            </a:pPr>
            <a:endParaRPr/>
          </a:p>
          <a:p>
            <a:pPr marL="0" lvl="0" indent="0" algn="l" rtl="0">
              <a:lnSpc>
                <a:spcPct val="90000"/>
              </a:lnSpc>
              <a:spcBef>
                <a:spcPts val="1000"/>
              </a:spcBef>
              <a:spcAft>
                <a:spcPts val="0"/>
              </a:spcAft>
              <a:buClr>
                <a:srgbClr val="FF0000"/>
              </a:buClr>
              <a:buSzPct val="100000"/>
              <a:buNone/>
            </a:pPr>
            <a:r>
              <a:rPr lang="fr-FR" b="1" u="sng">
                <a:solidFill>
                  <a:srgbClr val="FF0000"/>
                </a:solidFill>
              </a:rPr>
              <a:t>Remarque</a:t>
            </a:r>
            <a:endParaRPr/>
          </a:p>
          <a:p>
            <a:pPr marL="0" lvl="0" indent="-164465" algn="just" rtl="0">
              <a:lnSpc>
                <a:spcPct val="90000"/>
              </a:lnSpc>
              <a:spcBef>
                <a:spcPts val="1000"/>
              </a:spcBef>
              <a:spcAft>
                <a:spcPts val="0"/>
              </a:spcAft>
              <a:buClr>
                <a:schemeClr val="dk1"/>
              </a:buClr>
              <a:buSzPct val="100000"/>
              <a:buChar char="•"/>
            </a:pPr>
            <a:r>
              <a:rPr lang="fr-FR"/>
              <a:t> Toute carte Arduino dispose  d'une LED de test sur la sortie n°13.</a:t>
            </a:r>
            <a:endParaRPr/>
          </a:p>
          <a:p>
            <a:pPr marL="0" lvl="0" indent="-164465" algn="just" rtl="0">
              <a:lnSpc>
                <a:spcPct val="90000"/>
              </a:lnSpc>
              <a:spcBef>
                <a:spcPts val="1000"/>
              </a:spcBef>
              <a:spcAft>
                <a:spcPts val="0"/>
              </a:spcAft>
              <a:buClr>
                <a:schemeClr val="dk1"/>
              </a:buClr>
              <a:buSzPct val="100000"/>
              <a:buChar char="•"/>
            </a:pPr>
            <a:r>
              <a:rPr lang="fr-FR"/>
              <a:t> Donc même si vous n'avez pas ces composants, il est possible de réaliser le premier montage avec simplement votre carte Arduino.</a:t>
            </a:r>
            <a:endParaRPr/>
          </a:p>
        </p:txBody>
      </p:sp>
      <p:sp>
        <p:nvSpPr>
          <p:cNvPr id="327" name="Google Shape;327;p9"/>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328" name="Google Shape;328;p9"/>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9</a:t>
            </a:fld>
            <a:endParaRPr/>
          </a:p>
        </p:txBody>
      </p:sp>
      <p:pic>
        <p:nvPicPr>
          <p:cNvPr id="329" name="Google Shape;329;p9" descr="Capture.PNG"/>
          <p:cNvPicPr preferRelativeResize="0"/>
          <p:nvPr/>
        </p:nvPicPr>
        <p:blipFill rotWithShape="1">
          <a:blip r:embed="rId3">
            <a:alphaModFix/>
          </a:blip>
          <a:srcRect/>
          <a:stretch/>
        </p:blipFill>
        <p:spPr>
          <a:xfrm>
            <a:off x="6975566" y="1972491"/>
            <a:ext cx="4902925" cy="2717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10"/>
          <p:cNvSpPr txBox="1">
            <a:spLocks noGrp="1"/>
          </p:cNvSpPr>
          <p:nvPr>
            <p:ph type="title"/>
          </p:nvPr>
        </p:nvSpPr>
        <p:spPr>
          <a:xfrm>
            <a:off x="838199" y="365127"/>
            <a:ext cx="11832771"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b="1"/>
              <a:t>    </a:t>
            </a:r>
            <a:r>
              <a:rPr lang="fr-FR" b="1">
                <a:latin typeface="Arial"/>
                <a:ea typeface="Arial"/>
                <a:cs typeface="Arial"/>
                <a:sym typeface="Arial"/>
              </a:rPr>
              <a:t>Guide d’utilisation de la plaque d’essaie </a:t>
            </a:r>
            <a:endParaRPr b="1">
              <a:latin typeface="Arial"/>
              <a:ea typeface="Arial"/>
              <a:cs typeface="Arial"/>
              <a:sym typeface="Arial"/>
            </a:endParaRPr>
          </a:p>
        </p:txBody>
      </p:sp>
      <p:sp>
        <p:nvSpPr>
          <p:cNvPr id="335" name="Google Shape;335;p10"/>
          <p:cNvSpPr txBox="1">
            <a:spLocks noGrp="1"/>
          </p:cNvSpPr>
          <p:nvPr>
            <p:ph type="body" idx="1"/>
          </p:nvPr>
        </p:nvSpPr>
        <p:spPr>
          <a:xfrm>
            <a:off x="0" y="1610472"/>
            <a:ext cx="8539090" cy="4882401"/>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400"/>
              <a:buChar char="•"/>
            </a:pPr>
            <a:r>
              <a:rPr lang="fr-FR" sz="2400"/>
              <a:t>Une plaque d'essai est composé d’un ensemble de points de </a:t>
            </a:r>
            <a:endParaRPr/>
          </a:p>
          <a:p>
            <a:pPr marL="228600" lvl="0" indent="-228600" algn="just" rtl="0">
              <a:lnSpc>
                <a:spcPct val="90000"/>
              </a:lnSpc>
              <a:spcBef>
                <a:spcPts val="1000"/>
              </a:spcBef>
              <a:spcAft>
                <a:spcPts val="0"/>
              </a:spcAft>
              <a:buClr>
                <a:schemeClr val="dk1"/>
              </a:buClr>
              <a:buSzPts val="2400"/>
              <a:buNone/>
            </a:pPr>
            <a:r>
              <a:rPr lang="fr-FR" sz="2400"/>
              <a:t>connexion groupés sous forme de lignes et de colonnes.</a:t>
            </a:r>
            <a:endParaRPr/>
          </a:p>
          <a:p>
            <a:pPr marL="228600" lvl="0" indent="-228600" algn="just" rtl="0">
              <a:lnSpc>
                <a:spcPct val="90000"/>
              </a:lnSpc>
              <a:spcBef>
                <a:spcPts val="1000"/>
              </a:spcBef>
              <a:spcAft>
                <a:spcPts val="0"/>
              </a:spcAft>
              <a:buClr>
                <a:schemeClr val="dk1"/>
              </a:buClr>
              <a:buSzPts val="2400"/>
              <a:buNone/>
            </a:pPr>
            <a:endParaRPr sz="2400"/>
          </a:p>
          <a:p>
            <a:pPr marL="228600" lvl="0" indent="-228600" algn="just" rtl="0">
              <a:lnSpc>
                <a:spcPct val="90000"/>
              </a:lnSpc>
              <a:spcBef>
                <a:spcPts val="1000"/>
              </a:spcBef>
              <a:spcAft>
                <a:spcPts val="0"/>
              </a:spcAft>
              <a:buClr>
                <a:schemeClr val="dk1"/>
              </a:buClr>
              <a:buSzPts val="2400"/>
              <a:buChar char="•"/>
            </a:pPr>
            <a:r>
              <a:rPr lang="fr-FR" sz="2400"/>
              <a:t>Tous les points d'une même ligne sont  reliés entre eux.</a:t>
            </a:r>
            <a:endParaRPr/>
          </a:p>
          <a:p>
            <a:pPr marL="228600" lvl="0" indent="-228600" algn="just" rtl="0">
              <a:lnSpc>
                <a:spcPct val="90000"/>
              </a:lnSpc>
              <a:spcBef>
                <a:spcPts val="1000"/>
              </a:spcBef>
              <a:spcAft>
                <a:spcPts val="0"/>
              </a:spcAft>
              <a:buClr>
                <a:schemeClr val="dk1"/>
              </a:buClr>
              <a:buSzPts val="2400"/>
              <a:buNone/>
            </a:pPr>
            <a:endParaRPr sz="2400"/>
          </a:p>
          <a:p>
            <a:pPr marL="228600" lvl="0" indent="-228600" algn="just" rtl="0">
              <a:lnSpc>
                <a:spcPct val="90000"/>
              </a:lnSpc>
              <a:spcBef>
                <a:spcPts val="1000"/>
              </a:spcBef>
              <a:spcAft>
                <a:spcPts val="0"/>
              </a:spcAft>
              <a:buClr>
                <a:schemeClr val="dk1"/>
              </a:buClr>
              <a:buSzPts val="2400"/>
              <a:buChar char="•"/>
            </a:pPr>
            <a:r>
              <a:rPr lang="fr-FR" sz="2400"/>
              <a:t>Les points des lignes à droite et à gauche de la séparation  verticale au centre de la  plaque  d'essai ne sont pas reliés entre eux.</a:t>
            </a:r>
            <a:endParaRPr/>
          </a:p>
          <a:p>
            <a:pPr marL="228600" lvl="0" indent="-228600" algn="just" rtl="0">
              <a:lnSpc>
                <a:spcPct val="90000"/>
              </a:lnSpc>
              <a:spcBef>
                <a:spcPts val="1000"/>
              </a:spcBef>
              <a:spcAft>
                <a:spcPts val="0"/>
              </a:spcAft>
              <a:buClr>
                <a:schemeClr val="dk1"/>
              </a:buClr>
              <a:buSzPts val="2400"/>
              <a:buNone/>
            </a:pPr>
            <a:endParaRPr sz="2400"/>
          </a:p>
          <a:p>
            <a:pPr marL="228600" lvl="0" indent="-228600" algn="just" rtl="0">
              <a:lnSpc>
                <a:spcPct val="90000"/>
              </a:lnSpc>
              <a:spcBef>
                <a:spcPts val="1000"/>
              </a:spcBef>
              <a:spcAft>
                <a:spcPts val="0"/>
              </a:spcAft>
              <a:buClr>
                <a:schemeClr val="dk1"/>
              </a:buClr>
              <a:buSzPts val="2400"/>
              <a:buChar char="•"/>
            </a:pPr>
            <a:r>
              <a:rPr lang="fr-FR" sz="2400"/>
              <a:t>Tous les points des colonnes aux extrémités  droites et gauches de la plaque d'essai sont reliés entre eux</a:t>
            </a:r>
            <a:r>
              <a:rPr lang="fr-FR"/>
              <a:t>. </a:t>
            </a:r>
            <a:endParaRPr/>
          </a:p>
        </p:txBody>
      </p:sp>
      <p:sp>
        <p:nvSpPr>
          <p:cNvPr id="336" name="Google Shape;336;p10"/>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337" name="Google Shape;337;p10"/>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10</a:t>
            </a:fld>
            <a:endParaRPr/>
          </a:p>
        </p:txBody>
      </p:sp>
      <p:pic>
        <p:nvPicPr>
          <p:cNvPr id="338" name="Google Shape;338;p10" descr="Illustration des connexions d'une plaque d'essai"/>
          <p:cNvPicPr preferRelativeResize="0"/>
          <p:nvPr/>
        </p:nvPicPr>
        <p:blipFill rotWithShape="1">
          <a:blip r:embed="rId3">
            <a:alphaModFix/>
          </a:blip>
          <a:srcRect/>
          <a:stretch/>
        </p:blipFill>
        <p:spPr>
          <a:xfrm>
            <a:off x="8539089" y="1550487"/>
            <a:ext cx="3544755" cy="47323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1"/>
          <p:cNvSpPr txBox="1">
            <a:spLocks noGrp="1"/>
          </p:cNvSpPr>
          <p:nvPr>
            <p:ph type="title"/>
          </p:nvPr>
        </p:nvSpPr>
        <p:spPr>
          <a:xfrm>
            <a:off x="947529" y="40488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Black"/>
              <a:buNone/>
            </a:pPr>
            <a:r>
              <a:rPr lang="fr-FR">
                <a:latin typeface="Arial Black"/>
                <a:ea typeface="Arial Black"/>
                <a:cs typeface="Arial Black"/>
                <a:sym typeface="Arial Black"/>
              </a:rPr>
              <a:t> Réalisation du premier montage</a:t>
            </a:r>
            <a:endParaRPr>
              <a:latin typeface="Arial Black"/>
              <a:ea typeface="Arial Black"/>
              <a:cs typeface="Arial Black"/>
              <a:sym typeface="Arial Black"/>
            </a:endParaRPr>
          </a:p>
        </p:txBody>
      </p:sp>
      <p:sp>
        <p:nvSpPr>
          <p:cNvPr id="344" name="Google Shape;344;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514350" lvl="0" indent="-514350" algn="l" rtl="0">
              <a:lnSpc>
                <a:spcPct val="90000"/>
              </a:lnSpc>
              <a:spcBef>
                <a:spcPts val="0"/>
              </a:spcBef>
              <a:spcAft>
                <a:spcPts val="0"/>
              </a:spcAft>
              <a:buClr>
                <a:schemeClr val="dk1"/>
              </a:buClr>
              <a:buSzPts val="2800"/>
              <a:buFont typeface="Calibri"/>
              <a:buAutoNum type="arabicParenR"/>
            </a:pPr>
            <a:r>
              <a:rPr lang="fr-FR" b="1" u="sng"/>
              <a:t>Montage de la LED sur la plaque d’essaie</a:t>
            </a:r>
            <a:endParaRPr/>
          </a:p>
          <a:p>
            <a:pPr marL="514350" lvl="0" indent="-514350" algn="l" rtl="0">
              <a:lnSpc>
                <a:spcPct val="90000"/>
              </a:lnSpc>
              <a:spcBef>
                <a:spcPts val="1000"/>
              </a:spcBef>
              <a:spcAft>
                <a:spcPts val="0"/>
              </a:spcAft>
              <a:buClr>
                <a:schemeClr val="dk1"/>
              </a:buClr>
              <a:buSzPts val="2800"/>
              <a:buChar char="•"/>
            </a:pPr>
            <a:r>
              <a:rPr lang="fr-FR"/>
              <a:t>Connecter la cathode (patte la plus courte sur une ligne)</a:t>
            </a:r>
            <a:endParaRPr/>
          </a:p>
          <a:p>
            <a:pPr marL="514350" lvl="0" indent="-514350" algn="l" rtl="0">
              <a:lnSpc>
                <a:spcPct val="90000"/>
              </a:lnSpc>
              <a:spcBef>
                <a:spcPts val="1000"/>
              </a:spcBef>
              <a:spcAft>
                <a:spcPts val="0"/>
              </a:spcAft>
              <a:buClr>
                <a:schemeClr val="dk1"/>
              </a:buClr>
              <a:buSzPts val="2800"/>
              <a:buNone/>
            </a:pPr>
            <a:r>
              <a:rPr lang="fr-FR"/>
              <a:t> et l’anode (la patte la plus longue sur </a:t>
            </a:r>
            <a:r>
              <a:rPr lang="fr-FR">
                <a:solidFill>
                  <a:srgbClr val="FF0000"/>
                </a:solidFill>
              </a:rPr>
              <a:t>une autre ligne </a:t>
            </a:r>
            <a:r>
              <a:rPr lang="fr-FR"/>
              <a:t>pour </a:t>
            </a:r>
            <a:endParaRPr/>
          </a:p>
          <a:p>
            <a:pPr marL="514350" lvl="0" indent="-514350" algn="l" rtl="0">
              <a:lnSpc>
                <a:spcPct val="90000"/>
              </a:lnSpc>
              <a:spcBef>
                <a:spcPts val="1000"/>
              </a:spcBef>
              <a:spcAft>
                <a:spcPts val="0"/>
              </a:spcAft>
              <a:buClr>
                <a:schemeClr val="dk1"/>
              </a:buClr>
              <a:buSzPts val="2800"/>
              <a:buNone/>
            </a:pPr>
            <a:r>
              <a:rPr lang="fr-FR"/>
              <a:t>éviter un Court-circuit). </a:t>
            </a:r>
            <a:endParaRPr/>
          </a:p>
          <a:p>
            <a:pPr marL="514350" lvl="0" indent="-514350" algn="l" rtl="0">
              <a:lnSpc>
                <a:spcPct val="90000"/>
              </a:lnSpc>
              <a:spcBef>
                <a:spcPts val="1000"/>
              </a:spcBef>
              <a:spcAft>
                <a:spcPts val="0"/>
              </a:spcAft>
              <a:buClr>
                <a:schemeClr val="dk1"/>
              </a:buClr>
              <a:buSzPts val="2800"/>
              <a:buNone/>
            </a:pPr>
            <a:r>
              <a:rPr lang="fr-FR"/>
              <a:t>        Ce qui doit vous donner une plaque câblée comme ceci :</a:t>
            </a:r>
            <a:endParaRPr/>
          </a:p>
          <a:p>
            <a:pPr marL="514350" lvl="0" indent="-514350" algn="l" rtl="0">
              <a:lnSpc>
                <a:spcPct val="90000"/>
              </a:lnSpc>
              <a:spcBef>
                <a:spcPts val="1000"/>
              </a:spcBef>
              <a:spcAft>
                <a:spcPts val="0"/>
              </a:spcAft>
              <a:buClr>
                <a:schemeClr val="dk1"/>
              </a:buClr>
              <a:buSzPts val="2800"/>
              <a:buNone/>
            </a:pPr>
            <a:endParaRPr b="1" u="sng"/>
          </a:p>
        </p:txBody>
      </p:sp>
      <p:sp>
        <p:nvSpPr>
          <p:cNvPr id="345" name="Google Shape;345;p11"/>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346" name="Google Shape;346;p11"/>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11</a:t>
            </a:fld>
            <a:endParaRPr/>
          </a:p>
        </p:txBody>
      </p:sp>
      <p:pic>
        <p:nvPicPr>
          <p:cNvPr id="347" name="Google Shape;347;p11" descr="LED.png"/>
          <p:cNvPicPr preferRelativeResize="0"/>
          <p:nvPr/>
        </p:nvPicPr>
        <p:blipFill rotWithShape="1">
          <a:blip r:embed="rId3">
            <a:alphaModFix/>
          </a:blip>
          <a:srcRect/>
          <a:stretch/>
        </p:blipFill>
        <p:spPr>
          <a:xfrm>
            <a:off x="9791972" y="1998616"/>
            <a:ext cx="2400028" cy="2364377"/>
          </a:xfrm>
          <a:prstGeom prst="rect">
            <a:avLst/>
          </a:prstGeom>
          <a:noFill/>
          <a:ln>
            <a:noFill/>
          </a:ln>
        </p:spPr>
      </p:pic>
      <p:sp>
        <p:nvSpPr>
          <p:cNvPr id="348" name="Google Shape;348;p11"/>
          <p:cNvSpPr/>
          <p:nvPr/>
        </p:nvSpPr>
        <p:spPr>
          <a:xfrm>
            <a:off x="992777" y="3971110"/>
            <a:ext cx="483326" cy="274320"/>
          </a:xfrm>
          <a:prstGeom prst="rightArrow">
            <a:avLst>
              <a:gd name="adj1" fmla="val 50000"/>
              <a:gd name="adj2" fmla="val 50000"/>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49" name="Google Shape;349;p11" descr="LED en gros plan"/>
          <p:cNvPicPr preferRelativeResize="0"/>
          <p:nvPr/>
        </p:nvPicPr>
        <p:blipFill rotWithShape="1">
          <a:blip r:embed="rId4">
            <a:alphaModFix/>
          </a:blip>
          <a:srcRect/>
          <a:stretch/>
        </p:blipFill>
        <p:spPr>
          <a:xfrm>
            <a:off x="2913016" y="4271554"/>
            <a:ext cx="6096000" cy="258644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12"/>
          <p:cNvSpPr txBox="1">
            <a:spLocks noGrp="1"/>
          </p:cNvSpPr>
          <p:nvPr>
            <p:ph type="title"/>
          </p:nvPr>
        </p:nvSpPr>
        <p:spPr>
          <a:xfrm>
            <a:off x="947529" y="40488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Black"/>
              <a:buNone/>
            </a:pPr>
            <a:r>
              <a:rPr lang="fr-FR">
                <a:latin typeface="Arial Black"/>
                <a:ea typeface="Arial Black"/>
                <a:cs typeface="Arial Black"/>
                <a:sym typeface="Arial Black"/>
              </a:rPr>
              <a:t> Réalisation du montage</a:t>
            </a:r>
            <a:endParaRPr>
              <a:latin typeface="Arial Black"/>
              <a:ea typeface="Arial Black"/>
              <a:cs typeface="Arial Black"/>
              <a:sym typeface="Arial Black"/>
            </a:endParaRPr>
          </a:p>
        </p:txBody>
      </p:sp>
      <p:sp>
        <p:nvSpPr>
          <p:cNvPr id="355" name="Google Shape;355;p12"/>
          <p:cNvSpPr txBox="1">
            <a:spLocks noGrp="1"/>
          </p:cNvSpPr>
          <p:nvPr>
            <p:ph type="body" idx="1"/>
          </p:nvPr>
        </p:nvSpPr>
        <p:spPr>
          <a:xfrm>
            <a:off x="838200" y="1538242"/>
            <a:ext cx="10515600" cy="4351338"/>
          </a:xfrm>
          <a:prstGeom prst="rect">
            <a:avLst/>
          </a:prstGeom>
          <a:noFill/>
          <a:ln>
            <a:noFill/>
          </a:ln>
        </p:spPr>
        <p:txBody>
          <a:bodyPr spcFirstLastPara="1" wrap="square" lIns="91425" tIns="45700" rIns="91425" bIns="45700" anchor="t" anchorCtr="0">
            <a:normAutofit/>
          </a:bodyPr>
          <a:lstStyle/>
          <a:p>
            <a:pPr marL="514350" lvl="0" indent="-514350" algn="l" rtl="0">
              <a:lnSpc>
                <a:spcPct val="90000"/>
              </a:lnSpc>
              <a:spcBef>
                <a:spcPts val="0"/>
              </a:spcBef>
              <a:spcAft>
                <a:spcPts val="0"/>
              </a:spcAft>
              <a:buClr>
                <a:schemeClr val="dk1"/>
              </a:buClr>
              <a:buSzPts val="2800"/>
              <a:buAutoNum type="arabicParenR" startAt="2"/>
            </a:pPr>
            <a:r>
              <a:rPr lang="fr-FR" b="1" u="sng"/>
              <a:t>Cablâge de la plaque d’essaie</a:t>
            </a:r>
            <a:endParaRPr/>
          </a:p>
          <a:p>
            <a:pPr marL="514350" lvl="0" indent="-514350" algn="l" rtl="0">
              <a:lnSpc>
                <a:spcPct val="90000"/>
              </a:lnSpc>
              <a:spcBef>
                <a:spcPts val="1000"/>
              </a:spcBef>
              <a:spcAft>
                <a:spcPts val="0"/>
              </a:spcAft>
              <a:buClr>
                <a:schemeClr val="dk1"/>
              </a:buClr>
              <a:buSzPts val="2600"/>
              <a:buChar char="•"/>
            </a:pPr>
            <a:r>
              <a:rPr lang="fr-FR" sz="2600"/>
              <a:t>Câbler la sortie numérique de la LED (anode)  vers une sortie numérique de la carte Arduino (sortie numérique 12 par exemple ).</a:t>
            </a:r>
            <a:endParaRPr/>
          </a:p>
          <a:p>
            <a:pPr marL="514350" lvl="0" indent="-514350" algn="l" rtl="0">
              <a:lnSpc>
                <a:spcPct val="90000"/>
              </a:lnSpc>
              <a:spcBef>
                <a:spcPts val="1000"/>
              </a:spcBef>
              <a:spcAft>
                <a:spcPts val="0"/>
              </a:spcAft>
              <a:buClr>
                <a:schemeClr val="dk1"/>
              </a:buClr>
              <a:buSzPts val="2600"/>
              <a:buChar char="•"/>
            </a:pPr>
            <a:r>
              <a:rPr lang="fr-FR" sz="2600"/>
              <a:t>Relier la masse de la carte Arduino (broche GND) à la cathode de la LED avec un fil.</a:t>
            </a:r>
            <a:endParaRPr/>
          </a:p>
          <a:p>
            <a:pPr marL="514350" lvl="0" indent="-336550" algn="l" rtl="0">
              <a:lnSpc>
                <a:spcPct val="90000"/>
              </a:lnSpc>
              <a:spcBef>
                <a:spcPts val="1000"/>
              </a:spcBef>
              <a:spcAft>
                <a:spcPts val="0"/>
              </a:spcAft>
              <a:buClr>
                <a:schemeClr val="dk1"/>
              </a:buClr>
              <a:buSzPts val="2800"/>
              <a:buNone/>
            </a:pPr>
            <a:endParaRPr b="1" u="sng"/>
          </a:p>
        </p:txBody>
      </p:sp>
      <p:sp>
        <p:nvSpPr>
          <p:cNvPr id="356" name="Google Shape;356;p12"/>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357" name="Google Shape;357;p12"/>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12</a:t>
            </a:fld>
            <a:endParaRPr/>
          </a:p>
        </p:txBody>
      </p:sp>
      <p:pic>
        <p:nvPicPr>
          <p:cNvPr id="358" name="Google Shape;358;p12" descr="IMG_20181127_110136.jpg"/>
          <p:cNvPicPr preferRelativeResize="0"/>
          <p:nvPr/>
        </p:nvPicPr>
        <p:blipFill rotWithShape="1">
          <a:blip r:embed="rId3">
            <a:alphaModFix/>
          </a:blip>
          <a:srcRect/>
          <a:stretch/>
        </p:blipFill>
        <p:spPr>
          <a:xfrm>
            <a:off x="3353696" y="3439373"/>
            <a:ext cx="4480559" cy="2677886"/>
          </a:xfrm>
          <a:prstGeom prst="rect">
            <a:avLst/>
          </a:prstGeom>
          <a:noFill/>
          <a:ln>
            <a:noFill/>
          </a:ln>
          <a:effectLst>
            <a:outerShdw blurRad="292100" dist="139700" dir="2700000" algn="tl" rotWithShape="0">
              <a:srgbClr val="333333">
                <a:alpha val="64313"/>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13"/>
          <p:cNvSpPr txBox="1">
            <a:spLocks noGrp="1"/>
          </p:cNvSpPr>
          <p:nvPr>
            <p:ph type="title"/>
          </p:nvPr>
        </p:nvSpPr>
        <p:spPr>
          <a:xfrm>
            <a:off x="947529" y="40488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Black"/>
              <a:buNone/>
            </a:pPr>
            <a:r>
              <a:rPr lang="fr-FR">
                <a:latin typeface="Arial Black"/>
                <a:ea typeface="Arial Black"/>
                <a:cs typeface="Arial Black"/>
                <a:sym typeface="Arial Black"/>
              </a:rPr>
              <a:t> Test du premier montage</a:t>
            </a:r>
            <a:endParaRPr>
              <a:latin typeface="Arial Black"/>
              <a:ea typeface="Arial Black"/>
              <a:cs typeface="Arial Black"/>
              <a:sym typeface="Arial Black"/>
            </a:endParaRPr>
          </a:p>
        </p:txBody>
      </p:sp>
      <p:sp>
        <p:nvSpPr>
          <p:cNvPr id="364" name="Google Shape;364;p13"/>
          <p:cNvSpPr txBox="1">
            <a:spLocks noGrp="1"/>
          </p:cNvSpPr>
          <p:nvPr>
            <p:ph type="body" idx="1"/>
          </p:nvPr>
        </p:nvSpPr>
        <p:spPr>
          <a:xfrm>
            <a:off x="838200" y="1515291"/>
            <a:ext cx="10515600" cy="5551715"/>
          </a:xfrm>
          <a:prstGeom prst="rect">
            <a:avLst/>
          </a:prstGeom>
          <a:noFill/>
          <a:ln>
            <a:noFill/>
          </a:ln>
        </p:spPr>
        <p:txBody>
          <a:bodyPr spcFirstLastPara="1" wrap="square" lIns="91425" tIns="45700" rIns="91425" bIns="45700" anchor="t" anchorCtr="0">
            <a:normAutofit fontScale="85000" lnSpcReduction="20000"/>
          </a:bodyPr>
          <a:lstStyle/>
          <a:p>
            <a:pPr marL="514350" lvl="0" indent="-514350" algn="just" rtl="0">
              <a:lnSpc>
                <a:spcPct val="150000"/>
              </a:lnSpc>
              <a:spcBef>
                <a:spcPts val="0"/>
              </a:spcBef>
              <a:spcAft>
                <a:spcPts val="0"/>
              </a:spcAft>
              <a:buClr>
                <a:schemeClr val="dk1"/>
              </a:buClr>
              <a:buSzPct val="100000"/>
              <a:buChar char="•"/>
            </a:pPr>
            <a:r>
              <a:rPr lang="fr-FR" sz="3100"/>
              <a:t>Le programme de test doit allumer la LED branchée sur la sortie numérique 12 pendant 1 seconde puis l’éteindre durant 1 seconde et recommencer cette séquence à l’infini.</a:t>
            </a:r>
            <a:endParaRPr/>
          </a:p>
          <a:p>
            <a:pPr marL="514350" lvl="0" indent="-514350" algn="just" rtl="0">
              <a:lnSpc>
                <a:spcPct val="150000"/>
              </a:lnSpc>
              <a:spcBef>
                <a:spcPts val="1000"/>
              </a:spcBef>
              <a:spcAft>
                <a:spcPts val="0"/>
              </a:spcAft>
              <a:buClr>
                <a:schemeClr val="dk1"/>
              </a:buClr>
              <a:buSzPct val="100000"/>
              <a:buChar char="•"/>
            </a:pPr>
            <a:r>
              <a:rPr lang="fr-FR" sz="3100"/>
              <a:t>Pour réaliser ce test, vous allez implémenter les deux fonctions propres au logiciel Arduino</a:t>
            </a:r>
            <a:r>
              <a:rPr lang="fr-FR" sz="3100">
                <a:solidFill>
                  <a:srgbClr val="FF0000"/>
                </a:solidFill>
              </a:rPr>
              <a:t>: setup() </a:t>
            </a:r>
            <a:r>
              <a:rPr lang="fr-FR" sz="3100"/>
              <a:t>et</a:t>
            </a:r>
            <a:r>
              <a:rPr lang="fr-FR" sz="3100">
                <a:solidFill>
                  <a:srgbClr val="FF0000"/>
                </a:solidFill>
              </a:rPr>
              <a:t> loop()</a:t>
            </a:r>
            <a:r>
              <a:rPr lang="fr-FR" sz="3100"/>
              <a:t>. </a:t>
            </a:r>
            <a:endParaRPr/>
          </a:p>
          <a:p>
            <a:pPr marL="514350" lvl="0" indent="-514350" algn="just" rtl="0">
              <a:lnSpc>
                <a:spcPct val="150000"/>
              </a:lnSpc>
              <a:spcBef>
                <a:spcPts val="1000"/>
              </a:spcBef>
              <a:spcAft>
                <a:spcPts val="0"/>
              </a:spcAft>
              <a:buClr>
                <a:schemeClr val="dk1"/>
              </a:buClr>
              <a:buSzPct val="100000"/>
              <a:buChar char="•"/>
            </a:pPr>
            <a:r>
              <a:rPr lang="fr-FR" sz="3100"/>
              <a:t>La fonction </a:t>
            </a:r>
            <a:r>
              <a:rPr lang="fr-FR" sz="3100" b="1"/>
              <a:t>setup</a:t>
            </a:r>
            <a:r>
              <a:rPr lang="fr-FR" sz="3100"/>
              <a:t> permet d’initialiser, fixer les valeurs de démarrage et d’exécuter des instructions  </a:t>
            </a:r>
            <a:r>
              <a:rPr lang="fr-FR" sz="3100">
                <a:solidFill>
                  <a:srgbClr val="FF0000"/>
                </a:solidFill>
              </a:rPr>
              <a:t>une seule fois </a:t>
            </a:r>
            <a:r>
              <a:rPr lang="fr-FR" sz="3100"/>
              <a:t>au démarrage du programme.</a:t>
            </a:r>
            <a:endParaRPr/>
          </a:p>
          <a:p>
            <a:pPr marL="514350" lvl="0" indent="-514350" algn="just" rtl="0">
              <a:lnSpc>
                <a:spcPct val="150000"/>
              </a:lnSpc>
              <a:spcBef>
                <a:spcPts val="1000"/>
              </a:spcBef>
              <a:spcAft>
                <a:spcPts val="0"/>
              </a:spcAft>
              <a:buClr>
                <a:schemeClr val="dk1"/>
              </a:buClr>
              <a:buSzPct val="100000"/>
              <a:buChar char="•"/>
            </a:pPr>
            <a:r>
              <a:rPr lang="fr-FR" sz="3100"/>
              <a:t>La fonction </a:t>
            </a:r>
            <a:r>
              <a:rPr lang="fr-FR" sz="3100" b="1"/>
              <a:t>loop</a:t>
            </a:r>
            <a:r>
              <a:rPr lang="fr-FR" sz="3100"/>
              <a:t> s'exécute </a:t>
            </a:r>
            <a:r>
              <a:rPr lang="fr-FR" sz="3100">
                <a:solidFill>
                  <a:srgbClr val="FF0000"/>
                </a:solidFill>
              </a:rPr>
              <a:t>continuellement</a:t>
            </a:r>
            <a:r>
              <a:rPr lang="fr-FR" sz="3100"/>
              <a:t> tant que la carte Arduino est alimentée.  </a:t>
            </a:r>
            <a:endParaRPr/>
          </a:p>
          <a:p>
            <a:pPr marL="514350" lvl="0" indent="-514350" algn="just" rtl="0">
              <a:lnSpc>
                <a:spcPct val="90000"/>
              </a:lnSpc>
              <a:spcBef>
                <a:spcPts val="1000"/>
              </a:spcBef>
              <a:spcAft>
                <a:spcPts val="0"/>
              </a:spcAft>
              <a:buClr>
                <a:srgbClr val="FF0000"/>
              </a:buClr>
              <a:buSzPct val="100000"/>
              <a:buNone/>
            </a:pPr>
            <a:r>
              <a:rPr lang="fr-FR" sz="3100">
                <a:solidFill>
                  <a:srgbClr val="FF0000"/>
                </a:solidFill>
              </a:rPr>
              <a:t> </a:t>
            </a:r>
            <a:endParaRPr/>
          </a:p>
          <a:p>
            <a:pPr marL="514350" lvl="0" indent="-514350" algn="l" rtl="0">
              <a:lnSpc>
                <a:spcPct val="90000"/>
              </a:lnSpc>
              <a:spcBef>
                <a:spcPts val="1000"/>
              </a:spcBef>
              <a:spcAft>
                <a:spcPts val="0"/>
              </a:spcAft>
              <a:buClr>
                <a:schemeClr val="dk1"/>
              </a:buClr>
              <a:buSzPct val="100000"/>
              <a:buNone/>
            </a:pPr>
            <a:endParaRPr>
              <a:solidFill>
                <a:srgbClr val="FF0000"/>
              </a:solidFill>
            </a:endParaRPr>
          </a:p>
          <a:p>
            <a:pPr marL="514350" lvl="0" indent="-514350" algn="l" rtl="0">
              <a:lnSpc>
                <a:spcPct val="90000"/>
              </a:lnSpc>
              <a:spcBef>
                <a:spcPts val="1000"/>
              </a:spcBef>
              <a:spcAft>
                <a:spcPts val="0"/>
              </a:spcAft>
              <a:buClr>
                <a:schemeClr val="dk1"/>
              </a:buClr>
              <a:buSzPct val="100000"/>
              <a:buNone/>
            </a:pPr>
            <a:endParaRPr b="1" u="sng"/>
          </a:p>
          <a:p>
            <a:pPr marL="514350" lvl="0" indent="-363220" algn="l" rtl="0">
              <a:lnSpc>
                <a:spcPct val="90000"/>
              </a:lnSpc>
              <a:spcBef>
                <a:spcPts val="1000"/>
              </a:spcBef>
              <a:spcAft>
                <a:spcPts val="0"/>
              </a:spcAft>
              <a:buClr>
                <a:schemeClr val="dk1"/>
              </a:buClr>
              <a:buSzPct val="100000"/>
              <a:buNone/>
            </a:pPr>
            <a:endParaRPr b="1" u="sng"/>
          </a:p>
        </p:txBody>
      </p:sp>
      <p:sp>
        <p:nvSpPr>
          <p:cNvPr id="365" name="Google Shape;365;p13"/>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366" name="Google Shape;366;p13"/>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14"/>
          <p:cNvSpPr txBox="1">
            <a:spLocks noGrp="1"/>
          </p:cNvSpPr>
          <p:nvPr>
            <p:ph type="title"/>
          </p:nvPr>
        </p:nvSpPr>
        <p:spPr>
          <a:xfrm>
            <a:off x="994954" y="18288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Black"/>
              <a:buNone/>
            </a:pPr>
            <a:r>
              <a:rPr lang="fr-FR">
                <a:latin typeface="Arial Black"/>
                <a:ea typeface="Arial Black"/>
                <a:cs typeface="Arial Black"/>
                <a:sym typeface="Arial Black"/>
              </a:rPr>
              <a:t> Implémentation </a:t>
            </a:r>
            <a:endParaRPr>
              <a:latin typeface="Arial Black"/>
              <a:ea typeface="Arial Black"/>
              <a:cs typeface="Arial Black"/>
              <a:sym typeface="Arial Black"/>
            </a:endParaRPr>
          </a:p>
        </p:txBody>
      </p:sp>
      <p:sp>
        <p:nvSpPr>
          <p:cNvPr id="372" name="Google Shape;372;p14"/>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373" name="Google Shape;373;p1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14</a:t>
            </a:fld>
            <a:endParaRPr/>
          </a:p>
        </p:txBody>
      </p:sp>
      <p:sp>
        <p:nvSpPr>
          <p:cNvPr id="374" name="Google Shape;374;p14"/>
          <p:cNvSpPr txBox="1">
            <a:spLocks noGrp="1"/>
          </p:cNvSpPr>
          <p:nvPr>
            <p:ph type="body" idx="1"/>
          </p:nvPr>
        </p:nvSpPr>
        <p:spPr>
          <a:xfrm>
            <a:off x="825137" y="1306286"/>
            <a:ext cx="10515600" cy="5381897"/>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fr-FR" sz="3600" b="1"/>
              <a:t>Implémentation de la fonction </a:t>
            </a:r>
            <a:r>
              <a:rPr lang="fr-FR" sz="3600" b="1">
                <a:solidFill>
                  <a:srgbClr val="FF0000"/>
                </a:solidFill>
              </a:rPr>
              <a:t>Setup() </a:t>
            </a:r>
            <a:endParaRPr/>
          </a:p>
          <a:p>
            <a:pPr marL="228600" lvl="0" indent="-64135" algn="l" rtl="0">
              <a:lnSpc>
                <a:spcPct val="90000"/>
              </a:lnSpc>
              <a:spcBef>
                <a:spcPts val="1000"/>
              </a:spcBef>
              <a:spcAft>
                <a:spcPts val="0"/>
              </a:spcAft>
              <a:buClr>
                <a:schemeClr val="dk1"/>
              </a:buClr>
              <a:buSzPct val="100000"/>
              <a:buNone/>
            </a:pPr>
            <a:endParaRPr b="1"/>
          </a:p>
          <a:p>
            <a:pPr marL="228600" lvl="0" indent="-64135" algn="l" rtl="0">
              <a:lnSpc>
                <a:spcPct val="90000"/>
              </a:lnSpc>
              <a:spcBef>
                <a:spcPts val="1000"/>
              </a:spcBef>
              <a:spcAft>
                <a:spcPts val="0"/>
              </a:spcAft>
              <a:buClr>
                <a:schemeClr val="dk1"/>
              </a:buClr>
              <a:buSzPct val="100000"/>
              <a:buNone/>
            </a:pPr>
            <a:endParaRPr b="1"/>
          </a:p>
          <a:p>
            <a:pPr marL="228600" lvl="0" indent="-64135" algn="l" rtl="0">
              <a:lnSpc>
                <a:spcPct val="90000"/>
              </a:lnSpc>
              <a:spcBef>
                <a:spcPts val="1000"/>
              </a:spcBef>
              <a:spcAft>
                <a:spcPts val="0"/>
              </a:spcAft>
              <a:buClr>
                <a:schemeClr val="dk1"/>
              </a:buClr>
              <a:buSzPct val="100000"/>
              <a:buNone/>
            </a:pPr>
            <a:endParaRPr b="1"/>
          </a:p>
          <a:p>
            <a:pPr marL="228600" lvl="0" indent="-64135" algn="l" rtl="0">
              <a:lnSpc>
                <a:spcPct val="90000"/>
              </a:lnSpc>
              <a:spcBef>
                <a:spcPts val="1000"/>
              </a:spcBef>
              <a:spcAft>
                <a:spcPts val="0"/>
              </a:spcAft>
              <a:buClr>
                <a:schemeClr val="dk1"/>
              </a:buClr>
              <a:buSzPct val="100000"/>
              <a:buNone/>
            </a:pPr>
            <a:endParaRPr b="1"/>
          </a:p>
          <a:p>
            <a:pPr marL="228600" lvl="0" indent="-64135" algn="l" rtl="0">
              <a:lnSpc>
                <a:spcPct val="90000"/>
              </a:lnSpc>
              <a:spcBef>
                <a:spcPts val="1000"/>
              </a:spcBef>
              <a:spcAft>
                <a:spcPts val="0"/>
              </a:spcAft>
              <a:buClr>
                <a:schemeClr val="dk1"/>
              </a:buClr>
              <a:buSzPct val="100000"/>
              <a:buNone/>
            </a:pPr>
            <a:endParaRPr b="1"/>
          </a:p>
          <a:p>
            <a:pPr marL="228600" lvl="0" indent="-64135" algn="l" rtl="0">
              <a:lnSpc>
                <a:spcPct val="90000"/>
              </a:lnSpc>
              <a:spcBef>
                <a:spcPts val="1000"/>
              </a:spcBef>
              <a:spcAft>
                <a:spcPts val="0"/>
              </a:spcAft>
              <a:buClr>
                <a:schemeClr val="dk1"/>
              </a:buClr>
              <a:buSzPct val="100000"/>
              <a:buNone/>
            </a:pPr>
            <a:endParaRPr b="1"/>
          </a:p>
          <a:p>
            <a:pPr marL="228600" lvl="0" indent="-228600" algn="just" rtl="0">
              <a:lnSpc>
                <a:spcPct val="90000"/>
              </a:lnSpc>
              <a:spcBef>
                <a:spcPts val="1000"/>
              </a:spcBef>
              <a:spcAft>
                <a:spcPts val="0"/>
              </a:spcAft>
              <a:buClr>
                <a:schemeClr val="dk1"/>
              </a:buClr>
              <a:buSzPct val="100000"/>
              <a:buNone/>
            </a:pPr>
            <a:endParaRPr sz="2400"/>
          </a:p>
          <a:p>
            <a:pPr marL="228600" lvl="0" indent="-228600" algn="just" rtl="0">
              <a:lnSpc>
                <a:spcPct val="90000"/>
              </a:lnSpc>
              <a:spcBef>
                <a:spcPts val="1000"/>
              </a:spcBef>
              <a:spcAft>
                <a:spcPts val="0"/>
              </a:spcAft>
              <a:buClr>
                <a:schemeClr val="dk1"/>
              </a:buClr>
              <a:buSzPct val="100000"/>
              <a:buChar char="•"/>
            </a:pPr>
            <a:r>
              <a:rPr lang="fr-FR" sz="2600"/>
              <a:t>La fonction </a:t>
            </a:r>
            <a:r>
              <a:rPr lang="fr-FR" sz="2600" b="1">
                <a:solidFill>
                  <a:srgbClr val="FF0000"/>
                </a:solidFill>
              </a:rPr>
              <a:t>pinMode() </a:t>
            </a:r>
            <a:r>
              <a:rPr lang="fr-FR" sz="2600"/>
              <a:t>permet de configurer une broche en sortie ou en entrée et accepte deux paramètres obligatoires: le numéro de broche à configurer en premier paramètre et le mode de fonctionnement de la broche en second paramètre.</a:t>
            </a:r>
            <a:endParaRPr/>
          </a:p>
          <a:p>
            <a:pPr marL="228600" lvl="0" indent="-228600" algn="just" rtl="0">
              <a:lnSpc>
                <a:spcPct val="90000"/>
              </a:lnSpc>
              <a:spcBef>
                <a:spcPts val="1000"/>
              </a:spcBef>
              <a:spcAft>
                <a:spcPts val="0"/>
              </a:spcAft>
              <a:buClr>
                <a:schemeClr val="dk1"/>
              </a:buClr>
              <a:buSzPct val="100000"/>
              <a:buChar char="•"/>
            </a:pPr>
            <a:r>
              <a:rPr lang="fr-FR" sz="2600"/>
              <a:t> La fonction </a:t>
            </a:r>
            <a:r>
              <a:rPr lang="fr-FR" sz="2600" b="1">
                <a:solidFill>
                  <a:srgbClr val="FF0000"/>
                </a:solidFill>
              </a:rPr>
              <a:t>digitalWrite() </a:t>
            </a:r>
            <a:r>
              <a:rPr lang="fr-FR" sz="2600"/>
              <a:t>prend en paramètre  le numéro de broche à configurer en premier paramètre et l'état de la broche en second paramètre. L’état de la broche peut prendre deux valeurs: </a:t>
            </a:r>
            <a:r>
              <a:rPr lang="fr-FR" sz="2600" b="1">
                <a:solidFill>
                  <a:srgbClr val="00B0F0"/>
                </a:solidFill>
              </a:rPr>
              <a:t>HIGH</a:t>
            </a:r>
            <a:r>
              <a:rPr lang="fr-FR" sz="2600"/>
              <a:t> (LED allumée) ou</a:t>
            </a:r>
            <a:r>
              <a:rPr lang="fr-FR" sz="2600" b="1">
                <a:solidFill>
                  <a:srgbClr val="00B0F0"/>
                </a:solidFill>
              </a:rPr>
              <a:t> LOW </a:t>
            </a:r>
            <a:r>
              <a:rPr lang="fr-FR" sz="2600"/>
              <a:t>(LED éteinte). </a:t>
            </a:r>
            <a:endParaRPr/>
          </a:p>
        </p:txBody>
      </p:sp>
      <p:pic>
        <p:nvPicPr>
          <p:cNvPr id="5" name="Image 4">
            <a:extLst>
              <a:ext uri="{FF2B5EF4-FFF2-40B4-BE49-F238E27FC236}">
                <a16:creationId xmlns:a16="http://schemas.microsoft.com/office/drawing/2014/main" id="{FBD7C1A1-A396-B3E7-E44B-5ECAA078302B}"/>
              </a:ext>
            </a:extLst>
          </p:cNvPr>
          <p:cNvPicPr>
            <a:picLocks noChangeAspect="1"/>
          </p:cNvPicPr>
          <p:nvPr/>
        </p:nvPicPr>
        <p:blipFill>
          <a:blip r:embed="rId3"/>
          <a:stretch>
            <a:fillRect/>
          </a:stretch>
        </p:blipFill>
        <p:spPr>
          <a:xfrm>
            <a:off x="1371600" y="1885041"/>
            <a:ext cx="9509759" cy="239172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15"/>
          <p:cNvSpPr txBox="1">
            <a:spLocks noGrp="1"/>
          </p:cNvSpPr>
          <p:nvPr>
            <p:ph type="title"/>
          </p:nvPr>
        </p:nvSpPr>
        <p:spPr>
          <a:xfrm>
            <a:off x="994954" y="18288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Black"/>
              <a:buNone/>
            </a:pPr>
            <a:r>
              <a:rPr lang="fr-FR">
                <a:latin typeface="Arial Black"/>
                <a:ea typeface="Arial Black"/>
                <a:cs typeface="Arial Black"/>
                <a:sym typeface="Arial Black"/>
              </a:rPr>
              <a:t> Implémentation </a:t>
            </a:r>
            <a:endParaRPr>
              <a:latin typeface="Arial Black"/>
              <a:ea typeface="Arial Black"/>
              <a:cs typeface="Arial Black"/>
              <a:sym typeface="Arial Black"/>
            </a:endParaRPr>
          </a:p>
        </p:txBody>
      </p:sp>
      <p:sp>
        <p:nvSpPr>
          <p:cNvPr id="381" name="Google Shape;381;p15"/>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382" name="Google Shape;382;p15"/>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15</a:t>
            </a:fld>
            <a:endParaRPr/>
          </a:p>
        </p:txBody>
      </p:sp>
      <p:sp>
        <p:nvSpPr>
          <p:cNvPr id="383" name="Google Shape;383;p15"/>
          <p:cNvSpPr txBox="1">
            <a:spLocks noGrp="1"/>
          </p:cNvSpPr>
          <p:nvPr>
            <p:ph type="body" idx="1"/>
          </p:nvPr>
        </p:nvSpPr>
        <p:spPr>
          <a:xfrm>
            <a:off x="825137" y="1110343"/>
            <a:ext cx="10515600" cy="5381897"/>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fr-FR" sz="3600" b="1"/>
              <a:t>Implémentation de la fonction </a:t>
            </a:r>
            <a:r>
              <a:rPr lang="fr-FR" sz="3600" b="1">
                <a:solidFill>
                  <a:srgbClr val="FF0000"/>
                </a:solidFill>
              </a:rPr>
              <a:t>Loop() </a:t>
            </a:r>
            <a:endParaRPr/>
          </a:p>
          <a:p>
            <a:pPr marL="228600" lvl="0" indent="-64135" algn="l" rtl="0">
              <a:lnSpc>
                <a:spcPct val="90000"/>
              </a:lnSpc>
              <a:spcBef>
                <a:spcPts val="1000"/>
              </a:spcBef>
              <a:spcAft>
                <a:spcPts val="0"/>
              </a:spcAft>
              <a:buClr>
                <a:schemeClr val="dk1"/>
              </a:buClr>
              <a:buSzPct val="100000"/>
              <a:buNone/>
            </a:pPr>
            <a:endParaRPr b="1"/>
          </a:p>
          <a:p>
            <a:pPr marL="228600" lvl="0" indent="-64135" algn="l" rtl="0">
              <a:lnSpc>
                <a:spcPct val="90000"/>
              </a:lnSpc>
              <a:spcBef>
                <a:spcPts val="1000"/>
              </a:spcBef>
              <a:spcAft>
                <a:spcPts val="0"/>
              </a:spcAft>
              <a:buClr>
                <a:schemeClr val="dk1"/>
              </a:buClr>
              <a:buSzPct val="100000"/>
              <a:buNone/>
            </a:pPr>
            <a:endParaRPr b="1"/>
          </a:p>
          <a:p>
            <a:pPr marL="228600" lvl="0" indent="-64135" algn="l" rtl="0">
              <a:lnSpc>
                <a:spcPct val="90000"/>
              </a:lnSpc>
              <a:spcBef>
                <a:spcPts val="1000"/>
              </a:spcBef>
              <a:spcAft>
                <a:spcPts val="0"/>
              </a:spcAft>
              <a:buClr>
                <a:schemeClr val="dk1"/>
              </a:buClr>
              <a:buSzPct val="100000"/>
              <a:buNone/>
            </a:pPr>
            <a:endParaRPr b="1"/>
          </a:p>
          <a:p>
            <a:pPr marL="228600" lvl="0" indent="-64135" algn="l" rtl="0">
              <a:lnSpc>
                <a:spcPct val="90000"/>
              </a:lnSpc>
              <a:spcBef>
                <a:spcPts val="1000"/>
              </a:spcBef>
              <a:spcAft>
                <a:spcPts val="0"/>
              </a:spcAft>
              <a:buClr>
                <a:schemeClr val="dk1"/>
              </a:buClr>
              <a:buSzPct val="100000"/>
              <a:buNone/>
            </a:pPr>
            <a:endParaRPr b="1"/>
          </a:p>
          <a:p>
            <a:pPr marL="228600" lvl="0" indent="-64135" algn="l" rtl="0">
              <a:lnSpc>
                <a:spcPct val="90000"/>
              </a:lnSpc>
              <a:spcBef>
                <a:spcPts val="1000"/>
              </a:spcBef>
              <a:spcAft>
                <a:spcPts val="0"/>
              </a:spcAft>
              <a:buClr>
                <a:schemeClr val="dk1"/>
              </a:buClr>
              <a:buSzPct val="100000"/>
              <a:buNone/>
            </a:pPr>
            <a:endParaRPr b="1"/>
          </a:p>
          <a:p>
            <a:pPr marL="228600" lvl="0" indent="-228600" algn="just" rtl="0">
              <a:lnSpc>
                <a:spcPct val="90000"/>
              </a:lnSpc>
              <a:spcBef>
                <a:spcPts val="1000"/>
              </a:spcBef>
              <a:spcAft>
                <a:spcPts val="0"/>
              </a:spcAft>
              <a:buClr>
                <a:schemeClr val="dk1"/>
              </a:buClr>
              <a:buSzPct val="100000"/>
              <a:buNone/>
            </a:pPr>
            <a:endParaRPr sz="2400"/>
          </a:p>
          <a:p>
            <a:pPr marL="228600" lvl="0" indent="-228600" algn="just" rtl="0">
              <a:lnSpc>
                <a:spcPct val="90000"/>
              </a:lnSpc>
              <a:spcBef>
                <a:spcPts val="1000"/>
              </a:spcBef>
              <a:spcAft>
                <a:spcPts val="0"/>
              </a:spcAft>
              <a:buClr>
                <a:schemeClr val="dk1"/>
              </a:buClr>
              <a:buSzPct val="100000"/>
              <a:buNone/>
            </a:pPr>
            <a:endParaRPr sz="2400"/>
          </a:p>
          <a:p>
            <a:pPr marL="228600" lvl="0" indent="-228600" algn="just" rtl="0">
              <a:lnSpc>
                <a:spcPct val="90000"/>
              </a:lnSpc>
              <a:spcBef>
                <a:spcPts val="1000"/>
              </a:spcBef>
              <a:spcAft>
                <a:spcPts val="0"/>
              </a:spcAft>
              <a:buClr>
                <a:schemeClr val="dk1"/>
              </a:buClr>
              <a:buSzPct val="100000"/>
              <a:buChar char="•"/>
            </a:pPr>
            <a:r>
              <a:rPr lang="fr-FR" sz="2400"/>
              <a:t>Comme ces instructions  doivent être exécutées  </a:t>
            </a:r>
            <a:r>
              <a:rPr lang="fr-FR" sz="2400">
                <a:solidFill>
                  <a:srgbClr val="FF0000"/>
                </a:solidFill>
              </a:rPr>
              <a:t>continuellement, en boucle, </a:t>
            </a:r>
            <a:r>
              <a:rPr lang="fr-FR" sz="2400"/>
              <a:t>Il faut les placer dans la fonction </a:t>
            </a:r>
            <a:r>
              <a:rPr lang="fr-FR" sz="2400">
                <a:solidFill>
                  <a:srgbClr val="FF0000"/>
                </a:solidFill>
              </a:rPr>
              <a:t>loop()</a:t>
            </a:r>
            <a:r>
              <a:rPr lang="fr-FR" sz="2400"/>
              <a:t> qui s'exécute continuellement tant que la carte Arduino est alimentée</a:t>
            </a:r>
            <a:r>
              <a:rPr lang="fr-FR" sz="2600"/>
              <a:t>. </a:t>
            </a:r>
            <a:endParaRPr/>
          </a:p>
          <a:p>
            <a:pPr marL="228600" lvl="0" indent="-228600" algn="just" rtl="0">
              <a:lnSpc>
                <a:spcPct val="90000"/>
              </a:lnSpc>
              <a:spcBef>
                <a:spcPts val="1000"/>
              </a:spcBef>
              <a:spcAft>
                <a:spcPts val="0"/>
              </a:spcAft>
              <a:buClr>
                <a:srgbClr val="FF0000"/>
              </a:buClr>
              <a:buSzPct val="100000"/>
              <a:buChar char="•"/>
            </a:pPr>
            <a:r>
              <a:rPr lang="fr-FR" sz="2400" b="1">
                <a:solidFill>
                  <a:srgbClr val="FF0000"/>
                </a:solidFill>
              </a:rPr>
              <a:t>Il reste à brancher la carte Arduino via un cable USB pour compiler le programme et le téléverser.</a:t>
            </a:r>
            <a:endParaRPr sz="2600" b="1">
              <a:solidFill>
                <a:srgbClr val="FF0000"/>
              </a:solidFill>
            </a:endParaRPr>
          </a:p>
        </p:txBody>
      </p:sp>
      <p:pic>
        <p:nvPicPr>
          <p:cNvPr id="384" name="Google Shape;384;p15" descr="Capture.PNG"/>
          <p:cNvPicPr preferRelativeResize="0"/>
          <p:nvPr/>
        </p:nvPicPr>
        <p:blipFill rotWithShape="1">
          <a:blip r:embed="rId3">
            <a:alphaModFix/>
          </a:blip>
          <a:srcRect/>
          <a:stretch/>
        </p:blipFill>
        <p:spPr>
          <a:xfrm>
            <a:off x="2220686" y="1606732"/>
            <a:ext cx="7093131" cy="2965267"/>
          </a:xfrm>
          <a:prstGeom prst="rect">
            <a:avLst/>
          </a:prstGeom>
          <a:noFill/>
          <a:ln>
            <a:noFill/>
          </a:ln>
          <a:effectLst>
            <a:outerShdw blurRad="292100" dist="139700" dir="2700000" algn="tl" rotWithShape="0">
              <a:srgbClr val="333333">
                <a:alpha val="64313"/>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Black"/>
              <a:buNone/>
            </a:pPr>
            <a:r>
              <a:rPr lang="fr-FR">
                <a:latin typeface="Arial Black"/>
                <a:ea typeface="Arial Black"/>
                <a:cs typeface="Arial Black"/>
                <a:sym typeface="Arial Black"/>
              </a:rPr>
              <a:t> Communication PC - Arduino</a:t>
            </a:r>
            <a:endParaRPr>
              <a:latin typeface="Arial Black"/>
              <a:ea typeface="Arial Black"/>
              <a:cs typeface="Arial Black"/>
              <a:sym typeface="Arial Black"/>
            </a:endParaRPr>
          </a:p>
        </p:txBody>
      </p:sp>
      <p:sp>
        <p:nvSpPr>
          <p:cNvPr id="390" name="Google Shape;390;p16"/>
          <p:cNvSpPr txBox="1">
            <a:spLocks noGrp="1"/>
          </p:cNvSpPr>
          <p:nvPr>
            <p:ph type="body" idx="1"/>
          </p:nvPr>
        </p:nvSpPr>
        <p:spPr>
          <a:xfrm>
            <a:off x="877388" y="1332411"/>
            <a:ext cx="11314611" cy="531043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fr-FR" sz="2400"/>
              <a:t>La liaison Série est un protocole de communication entre le PC et la carte Arduino via le câble USB permettant un échange d’informations entre le PC et votre carte Arduino via ce qu’on appelle le moniteur série.</a:t>
            </a:r>
            <a:r>
              <a:rPr lang="fr-FR"/>
              <a:t>  </a:t>
            </a:r>
            <a:r>
              <a:rPr lang="fr-FR" sz="2400"/>
              <a:t>Le moniteur série est accessible depuis le logiciel Arduino en cliquant sur outils/Moniteur.</a:t>
            </a:r>
            <a:endParaRPr/>
          </a:p>
          <a:p>
            <a:pPr marL="228600" lvl="0" indent="-76200" algn="l" rtl="0">
              <a:lnSpc>
                <a:spcPct val="90000"/>
              </a:lnSpc>
              <a:spcBef>
                <a:spcPts val="1000"/>
              </a:spcBef>
              <a:spcAft>
                <a:spcPts val="0"/>
              </a:spcAft>
              <a:buClr>
                <a:schemeClr val="dk1"/>
              </a:buClr>
              <a:buSzPts val="2400"/>
              <a:buNone/>
            </a:pPr>
            <a:endParaRPr sz="2400"/>
          </a:p>
          <a:p>
            <a:pPr marL="228600" lvl="0" indent="-2286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None/>
            </a:pPr>
            <a:endParaRPr/>
          </a:p>
        </p:txBody>
      </p:sp>
      <p:sp>
        <p:nvSpPr>
          <p:cNvPr id="391" name="Google Shape;391;p16"/>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392" name="Google Shape;392;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16</a:t>
            </a:fld>
            <a:endParaRPr/>
          </a:p>
        </p:txBody>
      </p:sp>
      <p:pic>
        <p:nvPicPr>
          <p:cNvPr id="393" name="Google Shape;393;p16" descr="Capture.PNG"/>
          <p:cNvPicPr preferRelativeResize="0"/>
          <p:nvPr/>
        </p:nvPicPr>
        <p:blipFill rotWithShape="1">
          <a:blip r:embed="rId3">
            <a:alphaModFix/>
          </a:blip>
          <a:srcRect/>
          <a:stretch/>
        </p:blipFill>
        <p:spPr>
          <a:xfrm>
            <a:off x="2540799" y="2823521"/>
            <a:ext cx="6744642" cy="2845759"/>
          </a:xfrm>
          <a:prstGeom prst="rect">
            <a:avLst/>
          </a:prstGeom>
          <a:noFill/>
          <a:ln>
            <a:noFill/>
          </a:ln>
        </p:spPr>
      </p:pic>
      <p:sp>
        <p:nvSpPr>
          <p:cNvPr id="394" name="Google Shape;394;p16"/>
          <p:cNvSpPr/>
          <p:nvPr/>
        </p:nvSpPr>
        <p:spPr>
          <a:xfrm>
            <a:off x="535577" y="5645220"/>
            <a:ext cx="11181806"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FF0000"/>
                </a:solidFill>
                <a:latin typeface="Calibri"/>
                <a:ea typeface="Calibri"/>
                <a:cs typeface="Calibri"/>
                <a:sym typeface="Calibri"/>
              </a:rPr>
              <a:t>9600 baud, en bas à droite de la fenêtre,  indique  la fréquence par défaut de transmission à laquelle le moniteur série est réglé.</a:t>
            </a:r>
            <a:endParaRPr sz="1800" b="1" i="0" u="none" strike="noStrike" cap="none">
              <a:solidFill>
                <a:srgbClr val="FF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17"/>
          <p:cNvSpPr txBox="1">
            <a:spLocks noGrp="1"/>
          </p:cNvSpPr>
          <p:nvPr>
            <p:ph type="title"/>
          </p:nvPr>
        </p:nvSpPr>
        <p:spPr>
          <a:xfrm>
            <a:off x="1099457" y="43107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Black"/>
              <a:buNone/>
            </a:pPr>
            <a:r>
              <a:rPr lang="fr-FR">
                <a:latin typeface="Arial Black"/>
                <a:ea typeface="Arial Black"/>
                <a:cs typeface="Arial Black"/>
                <a:sym typeface="Arial Black"/>
              </a:rPr>
              <a:t>QT-Arduino </a:t>
            </a:r>
            <a:br>
              <a:rPr lang="fr-FR"/>
            </a:br>
            <a:endParaRPr>
              <a:latin typeface="Arial Black"/>
              <a:ea typeface="Arial Black"/>
              <a:cs typeface="Arial Black"/>
              <a:sym typeface="Arial Black"/>
            </a:endParaRPr>
          </a:p>
        </p:txBody>
      </p:sp>
      <p:sp>
        <p:nvSpPr>
          <p:cNvPr id="400" name="Google Shape;400;p17"/>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401" name="Google Shape;40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17</a:t>
            </a:fld>
            <a:endParaRPr/>
          </a:p>
        </p:txBody>
      </p:sp>
      <p:pic>
        <p:nvPicPr>
          <p:cNvPr id="402" name="Google Shape;402;p17" descr="IMG_20181127_110136.jpg"/>
          <p:cNvPicPr preferRelativeResize="0"/>
          <p:nvPr/>
        </p:nvPicPr>
        <p:blipFill rotWithShape="1">
          <a:blip r:embed="rId3">
            <a:alphaModFix/>
          </a:blip>
          <a:srcRect/>
          <a:stretch/>
        </p:blipFill>
        <p:spPr>
          <a:xfrm>
            <a:off x="6305902" y="2747041"/>
            <a:ext cx="4480559" cy="2677886"/>
          </a:xfrm>
          <a:prstGeom prst="rect">
            <a:avLst/>
          </a:prstGeom>
          <a:noFill/>
          <a:ln>
            <a:noFill/>
          </a:ln>
          <a:effectLst>
            <a:outerShdw blurRad="292100" dist="139700" dir="2700000" algn="tl" rotWithShape="0">
              <a:srgbClr val="333333">
                <a:alpha val="64313"/>
              </a:srgbClr>
            </a:outerShdw>
          </a:effectLst>
        </p:spPr>
      </p:pic>
      <p:pic>
        <p:nvPicPr>
          <p:cNvPr id="403" name="Google Shape;403;p17"/>
          <p:cNvPicPr preferRelativeResize="0">
            <a:picLocks noGrp="1"/>
          </p:cNvPicPr>
          <p:nvPr>
            <p:ph type="body" idx="1"/>
          </p:nvPr>
        </p:nvPicPr>
        <p:blipFill rotWithShape="1">
          <a:blip r:embed="rId4">
            <a:alphaModFix/>
          </a:blip>
          <a:srcRect/>
          <a:stretch/>
        </p:blipFill>
        <p:spPr>
          <a:xfrm>
            <a:off x="1298257" y="2618537"/>
            <a:ext cx="3743325" cy="3105150"/>
          </a:xfrm>
          <a:prstGeom prst="rect">
            <a:avLst/>
          </a:prstGeom>
          <a:noFill/>
          <a:ln>
            <a:noFill/>
          </a:ln>
          <a:effectLst>
            <a:outerShdw blurRad="292100" dist="139700" dir="2700000" algn="tl" rotWithShape="0">
              <a:srgbClr val="333333">
                <a:alpha val="64313"/>
              </a:srgbClr>
            </a:outerShdw>
          </a:effectLst>
        </p:spPr>
      </p:pic>
      <p:sp>
        <p:nvSpPr>
          <p:cNvPr id="404" name="Google Shape;404;p17"/>
          <p:cNvSpPr txBox="1"/>
          <p:nvPr/>
        </p:nvSpPr>
        <p:spPr>
          <a:xfrm>
            <a:off x="1149530" y="1293223"/>
            <a:ext cx="11403875"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Char char="•"/>
            </a:pPr>
            <a:r>
              <a:rPr lang="fr-FR" sz="2400" b="0" i="0" u="none" strike="noStrike" cap="none">
                <a:solidFill>
                  <a:schemeClr val="dk1"/>
                </a:solidFill>
                <a:latin typeface="Calibri"/>
                <a:ea typeface="Calibri"/>
                <a:cs typeface="Calibri"/>
                <a:sym typeface="Calibri"/>
              </a:rPr>
              <a:t> L’objectif de la deuxième partie de l’atelier est de créer une interface graphique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 via QT permettent de contrôler deux LED reliées à Arduino.</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18"/>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a:t>   </a:t>
            </a:r>
            <a:r>
              <a:rPr lang="fr-FR">
                <a:latin typeface="Arial Black"/>
                <a:ea typeface="Arial Black"/>
                <a:cs typeface="Arial Black"/>
                <a:sym typeface="Arial Black"/>
              </a:rPr>
              <a:t>Code Arduino</a:t>
            </a:r>
            <a:endParaRPr>
              <a:latin typeface="Arial Black"/>
              <a:ea typeface="Arial Black"/>
              <a:cs typeface="Arial Black"/>
              <a:sym typeface="Arial Black"/>
            </a:endParaRPr>
          </a:p>
        </p:txBody>
      </p:sp>
      <p:sp>
        <p:nvSpPr>
          <p:cNvPr id="410" name="Google Shape;410;p18"/>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411" name="Google Shape;411;p18"/>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18</a:t>
            </a:fld>
            <a:endParaRPr/>
          </a:p>
        </p:txBody>
      </p:sp>
      <p:sp>
        <p:nvSpPr>
          <p:cNvPr id="412" name="Google Shape;412;p18"/>
          <p:cNvSpPr/>
          <p:nvPr/>
        </p:nvSpPr>
        <p:spPr>
          <a:xfrm>
            <a:off x="872779" y="1376346"/>
            <a:ext cx="8023027"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al"/>
              <a:buChar char="•"/>
            </a:pPr>
            <a:r>
              <a:rPr lang="fr-FR" sz="2800" b="1" i="0" u="none" strike="noStrike" cap="none">
                <a:solidFill>
                  <a:schemeClr val="dk1"/>
                </a:solidFill>
                <a:latin typeface="Calibri"/>
                <a:ea typeface="Calibri"/>
                <a:cs typeface="Calibri"/>
                <a:sym typeface="Calibri"/>
              </a:rPr>
              <a:t>Déclaration des variables</a:t>
            </a:r>
            <a:endParaRPr sz="2800" b="1" i="0" u="none" strike="noStrike" cap="none">
              <a:solidFill>
                <a:srgbClr val="FF0000"/>
              </a:solidFill>
              <a:latin typeface="Calibri"/>
              <a:ea typeface="Calibri"/>
              <a:cs typeface="Calibri"/>
              <a:sym typeface="Calibri"/>
            </a:endParaRPr>
          </a:p>
        </p:txBody>
      </p:sp>
      <p:pic>
        <p:nvPicPr>
          <p:cNvPr id="413" name="Google Shape;413;p18"/>
          <p:cNvPicPr preferRelativeResize="0">
            <a:picLocks noGrp="1"/>
          </p:cNvPicPr>
          <p:nvPr>
            <p:ph type="body" idx="1"/>
          </p:nvPr>
        </p:nvPicPr>
        <p:blipFill rotWithShape="1">
          <a:blip r:embed="rId3">
            <a:alphaModFix/>
          </a:blip>
          <a:srcRect/>
          <a:stretch/>
        </p:blipFill>
        <p:spPr>
          <a:xfrm>
            <a:off x="2338252" y="2272937"/>
            <a:ext cx="7249886" cy="282157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EB429636-C9F3-28D0-B90A-F3BE5DDF7C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19</a:t>
            </a:fld>
            <a:endParaRPr lang="fr-FR"/>
          </a:p>
        </p:txBody>
      </p:sp>
      <p:pic>
        <p:nvPicPr>
          <p:cNvPr id="6" name="Image 5">
            <a:extLst>
              <a:ext uri="{FF2B5EF4-FFF2-40B4-BE49-F238E27FC236}">
                <a16:creationId xmlns:a16="http://schemas.microsoft.com/office/drawing/2014/main" id="{6DBA2D15-60F6-3BBE-CFC5-F305DD3D9D2B}"/>
              </a:ext>
            </a:extLst>
          </p:cNvPr>
          <p:cNvPicPr>
            <a:picLocks noChangeAspect="1"/>
          </p:cNvPicPr>
          <p:nvPr/>
        </p:nvPicPr>
        <p:blipFill>
          <a:blip r:embed="rId2"/>
          <a:stretch>
            <a:fillRect/>
          </a:stretch>
        </p:blipFill>
        <p:spPr>
          <a:xfrm>
            <a:off x="1223011" y="633036"/>
            <a:ext cx="8677460" cy="5540753"/>
          </a:xfrm>
          <a:prstGeom prst="rect">
            <a:avLst/>
          </a:prstGeom>
        </p:spPr>
      </p:pic>
      <p:sp>
        <p:nvSpPr>
          <p:cNvPr id="7" name="ZoneTexte 6">
            <a:extLst>
              <a:ext uri="{FF2B5EF4-FFF2-40B4-BE49-F238E27FC236}">
                <a16:creationId xmlns:a16="http://schemas.microsoft.com/office/drawing/2014/main" id="{385717B6-C481-9855-FF86-6A58E7BBEA22}"/>
              </a:ext>
            </a:extLst>
          </p:cNvPr>
          <p:cNvSpPr txBox="1"/>
          <p:nvPr/>
        </p:nvSpPr>
        <p:spPr>
          <a:xfrm>
            <a:off x="1245870" y="6240780"/>
            <a:ext cx="6812280" cy="369332"/>
          </a:xfrm>
          <a:prstGeom prst="rect">
            <a:avLst/>
          </a:prstGeom>
          <a:noFill/>
        </p:spPr>
        <p:txBody>
          <a:bodyPr wrap="square" rtlCol="0">
            <a:spAutoFit/>
          </a:bodyPr>
          <a:lstStyle/>
          <a:p>
            <a:r>
              <a:rPr lang="fr-FR" sz="1800" b="1" dirty="0">
                <a:hlinkClick r:id="rId3"/>
              </a:rPr>
              <a:t>Source</a:t>
            </a:r>
            <a:endParaRPr lang="fr-FR" sz="1800" b="1" dirty="0"/>
          </a:p>
        </p:txBody>
      </p:sp>
    </p:spTree>
    <p:extLst>
      <p:ext uri="{BB962C8B-B14F-4D97-AF65-F5344CB8AC3E}">
        <p14:creationId xmlns:p14="http://schemas.microsoft.com/office/powerpoint/2010/main" val="14728976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440CF966-5B15-BD9E-BEB5-763C46F9632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20</a:t>
            </a:fld>
            <a:endParaRPr lang="fr-FR"/>
          </a:p>
        </p:txBody>
      </p:sp>
      <p:pic>
        <p:nvPicPr>
          <p:cNvPr id="6" name="Image 5">
            <a:extLst>
              <a:ext uri="{FF2B5EF4-FFF2-40B4-BE49-F238E27FC236}">
                <a16:creationId xmlns:a16="http://schemas.microsoft.com/office/drawing/2014/main" id="{8C79C0B9-AF12-E7D5-2F7C-FDA8FFD67DCF}"/>
              </a:ext>
            </a:extLst>
          </p:cNvPr>
          <p:cNvPicPr>
            <a:picLocks noChangeAspect="1"/>
          </p:cNvPicPr>
          <p:nvPr/>
        </p:nvPicPr>
        <p:blipFill>
          <a:blip r:embed="rId2"/>
          <a:stretch>
            <a:fillRect/>
          </a:stretch>
        </p:blipFill>
        <p:spPr>
          <a:xfrm>
            <a:off x="1314450" y="299580"/>
            <a:ext cx="8481060" cy="6056772"/>
          </a:xfrm>
          <a:prstGeom prst="rect">
            <a:avLst/>
          </a:prstGeom>
        </p:spPr>
      </p:pic>
      <p:sp>
        <p:nvSpPr>
          <p:cNvPr id="7" name="ZoneTexte 6">
            <a:extLst>
              <a:ext uri="{FF2B5EF4-FFF2-40B4-BE49-F238E27FC236}">
                <a16:creationId xmlns:a16="http://schemas.microsoft.com/office/drawing/2014/main" id="{57FC2825-4B56-FF7B-57E1-96E368BFAB04}"/>
              </a:ext>
            </a:extLst>
          </p:cNvPr>
          <p:cNvSpPr txBox="1"/>
          <p:nvPr/>
        </p:nvSpPr>
        <p:spPr>
          <a:xfrm>
            <a:off x="1245870" y="6309360"/>
            <a:ext cx="6812280" cy="369332"/>
          </a:xfrm>
          <a:prstGeom prst="rect">
            <a:avLst/>
          </a:prstGeom>
          <a:noFill/>
        </p:spPr>
        <p:txBody>
          <a:bodyPr wrap="square" rtlCol="0">
            <a:spAutoFit/>
          </a:bodyPr>
          <a:lstStyle/>
          <a:p>
            <a:r>
              <a:rPr lang="fr-FR" sz="1800" b="1" dirty="0">
                <a:hlinkClick r:id="rId3"/>
              </a:rPr>
              <a:t>Source</a:t>
            </a:r>
            <a:endParaRPr lang="fr-FR" sz="1800" b="1" dirty="0"/>
          </a:p>
        </p:txBody>
      </p:sp>
    </p:spTree>
    <p:extLst>
      <p:ext uri="{BB962C8B-B14F-4D97-AF65-F5344CB8AC3E}">
        <p14:creationId xmlns:p14="http://schemas.microsoft.com/office/powerpoint/2010/main" val="2208460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103B49C5-3FA7-D9CE-873E-C5DE2EEF62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21</a:t>
            </a:fld>
            <a:endParaRPr lang="fr-FR"/>
          </a:p>
        </p:txBody>
      </p:sp>
      <p:pic>
        <p:nvPicPr>
          <p:cNvPr id="6" name="Image 5">
            <a:extLst>
              <a:ext uri="{FF2B5EF4-FFF2-40B4-BE49-F238E27FC236}">
                <a16:creationId xmlns:a16="http://schemas.microsoft.com/office/drawing/2014/main" id="{F0F68752-CD0E-9647-8B95-DC132C6E4F85}"/>
              </a:ext>
            </a:extLst>
          </p:cNvPr>
          <p:cNvPicPr>
            <a:picLocks noChangeAspect="1"/>
          </p:cNvPicPr>
          <p:nvPr/>
        </p:nvPicPr>
        <p:blipFill>
          <a:blip r:embed="rId2"/>
          <a:stretch>
            <a:fillRect/>
          </a:stretch>
        </p:blipFill>
        <p:spPr>
          <a:xfrm>
            <a:off x="1257301" y="825406"/>
            <a:ext cx="8724900" cy="5415373"/>
          </a:xfrm>
          <a:prstGeom prst="rect">
            <a:avLst/>
          </a:prstGeom>
        </p:spPr>
      </p:pic>
      <p:sp>
        <p:nvSpPr>
          <p:cNvPr id="7" name="ZoneTexte 6">
            <a:extLst>
              <a:ext uri="{FF2B5EF4-FFF2-40B4-BE49-F238E27FC236}">
                <a16:creationId xmlns:a16="http://schemas.microsoft.com/office/drawing/2014/main" id="{E6854A38-159D-5207-F3F6-C6EA05B0D598}"/>
              </a:ext>
            </a:extLst>
          </p:cNvPr>
          <p:cNvSpPr txBox="1"/>
          <p:nvPr/>
        </p:nvSpPr>
        <p:spPr>
          <a:xfrm>
            <a:off x="1245870" y="6309360"/>
            <a:ext cx="6812280" cy="369332"/>
          </a:xfrm>
          <a:prstGeom prst="rect">
            <a:avLst/>
          </a:prstGeom>
          <a:noFill/>
        </p:spPr>
        <p:txBody>
          <a:bodyPr wrap="square" rtlCol="0">
            <a:spAutoFit/>
          </a:bodyPr>
          <a:lstStyle/>
          <a:p>
            <a:r>
              <a:rPr lang="fr-FR" sz="1800" b="1" dirty="0">
                <a:hlinkClick r:id="rId3"/>
              </a:rPr>
              <a:t>Source</a:t>
            </a:r>
            <a:endParaRPr lang="fr-FR" sz="1800" b="1" dirty="0"/>
          </a:p>
        </p:txBody>
      </p:sp>
    </p:spTree>
    <p:extLst>
      <p:ext uri="{BB962C8B-B14F-4D97-AF65-F5344CB8AC3E}">
        <p14:creationId xmlns:p14="http://schemas.microsoft.com/office/powerpoint/2010/main" val="2936149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19"/>
          <p:cNvSpPr txBox="1">
            <a:spLocks noGrp="1"/>
          </p:cNvSpPr>
          <p:nvPr>
            <p:ph type="title"/>
          </p:nvPr>
        </p:nvSpPr>
        <p:spPr>
          <a:xfrm>
            <a:off x="92964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a:t>   </a:t>
            </a:r>
            <a:r>
              <a:rPr lang="fr-FR">
                <a:latin typeface="Arial Black"/>
                <a:ea typeface="Arial Black"/>
                <a:cs typeface="Arial Black"/>
                <a:sym typeface="Arial Black"/>
              </a:rPr>
              <a:t>Code Arduino</a:t>
            </a:r>
            <a:endParaRPr>
              <a:latin typeface="Arial Black"/>
              <a:ea typeface="Arial Black"/>
              <a:cs typeface="Arial Black"/>
              <a:sym typeface="Arial Black"/>
            </a:endParaRPr>
          </a:p>
        </p:txBody>
      </p:sp>
      <p:sp>
        <p:nvSpPr>
          <p:cNvPr id="419" name="Google Shape;419;p19"/>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420" name="Google Shape;420;p19"/>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22</a:t>
            </a:fld>
            <a:endParaRPr/>
          </a:p>
        </p:txBody>
      </p:sp>
      <p:sp>
        <p:nvSpPr>
          <p:cNvPr id="421" name="Google Shape;421;p19"/>
          <p:cNvSpPr/>
          <p:nvPr/>
        </p:nvSpPr>
        <p:spPr>
          <a:xfrm>
            <a:off x="1225477" y="1049775"/>
            <a:ext cx="554108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Char char="•"/>
            </a:pPr>
            <a:r>
              <a:rPr lang="fr-FR" sz="2400" b="1" i="0" u="none" strike="noStrike" cap="none">
                <a:solidFill>
                  <a:schemeClr val="dk1"/>
                </a:solidFill>
                <a:latin typeface="Calibri"/>
                <a:ea typeface="Calibri"/>
                <a:cs typeface="Calibri"/>
                <a:sym typeface="Calibri"/>
              </a:rPr>
              <a:t>Implémentation de la fonction </a:t>
            </a:r>
            <a:r>
              <a:rPr lang="fr-FR" sz="2400" b="1" i="0" u="none" strike="noStrike" cap="none">
                <a:solidFill>
                  <a:srgbClr val="FF0000"/>
                </a:solidFill>
                <a:latin typeface="Calibri"/>
                <a:ea typeface="Calibri"/>
                <a:cs typeface="Calibri"/>
                <a:sym typeface="Calibri"/>
              </a:rPr>
              <a:t>Setup() </a:t>
            </a:r>
            <a:endParaRPr sz="1400" b="0" i="0" u="none" strike="noStrike" cap="none">
              <a:solidFill>
                <a:srgbClr val="000000"/>
              </a:solidFill>
              <a:latin typeface="Arial"/>
              <a:ea typeface="Arial"/>
              <a:cs typeface="Arial"/>
              <a:sym typeface="Arial"/>
            </a:endParaRPr>
          </a:p>
        </p:txBody>
      </p:sp>
      <p:sp>
        <p:nvSpPr>
          <p:cNvPr id="422" name="Google Shape;422;p19"/>
          <p:cNvSpPr txBox="1"/>
          <p:nvPr/>
        </p:nvSpPr>
        <p:spPr>
          <a:xfrm>
            <a:off x="1227909" y="5778682"/>
            <a:ext cx="7667897"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FF0000"/>
                </a:solidFill>
                <a:latin typeface="Calibri"/>
                <a:ea typeface="Calibri"/>
                <a:cs typeface="Calibri"/>
                <a:sym typeface="Calibri"/>
              </a:rPr>
              <a:t>Serial.begin(9600) </a:t>
            </a:r>
            <a:r>
              <a:rPr lang="fr-FR" sz="1800" b="0" i="0" u="none" strike="noStrike" cap="none">
                <a:solidFill>
                  <a:schemeClr val="dk1"/>
                </a:solidFill>
                <a:latin typeface="Calibri"/>
                <a:ea typeface="Calibri"/>
                <a:cs typeface="Calibri"/>
                <a:sym typeface="Calibri"/>
              </a:rPr>
              <a:t>permet d’initialiser la liaison Série à 9600 bauds.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5" name="Image 4">
            <a:extLst>
              <a:ext uri="{FF2B5EF4-FFF2-40B4-BE49-F238E27FC236}">
                <a16:creationId xmlns:a16="http://schemas.microsoft.com/office/drawing/2014/main" id="{75D04371-30ED-C0B4-0B9F-0CF059127079}"/>
              </a:ext>
            </a:extLst>
          </p:cNvPr>
          <p:cNvPicPr>
            <a:picLocks noChangeAspect="1"/>
          </p:cNvPicPr>
          <p:nvPr/>
        </p:nvPicPr>
        <p:blipFill>
          <a:blip r:embed="rId3"/>
          <a:stretch>
            <a:fillRect/>
          </a:stretch>
        </p:blipFill>
        <p:spPr>
          <a:xfrm>
            <a:off x="342901" y="1786655"/>
            <a:ext cx="11384280" cy="379771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20"/>
          <p:cNvSpPr txBox="1">
            <a:spLocks noGrp="1"/>
          </p:cNvSpPr>
          <p:nvPr>
            <p:ph type="title"/>
          </p:nvPr>
        </p:nvSpPr>
        <p:spPr>
          <a:xfrm>
            <a:off x="92964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a:t>   </a:t>
            </a:r>
            <a:r>
              <a:rPr lang="fr-FR">
                <a:latin typeface="Arial Black"/>
                <a:ea typeface="Arial Black"/>
                <a:cs typeface="Arial Black"/>
                <a:sym typeface="Arial Black"/>
              </a:rPr>
              <a:t>Code Arduino</a:t>
            </a:r>
            <a:endParaRPr>
              <a:latin typeface="Arial Black"/>
              <a:ea typeface="Arial Black"/>
              <a:cs typeface="Arial Black"/>
              <a:sym typeface="Arial Black"/>
            </a:endParaRPr>
          </a:p>
        </p:txBody>
      </p:sp>
      <p:sp>
        <p:nvSpPr>
          <p:cNvPr id="430" name="Google Shape;430;p20"/>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431" name="Google Shape;431;p20"/>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23</a:t>
            </a:fld>
            <a:endParaRPr/>
          </a:p>
        </p:txBody>
      </p:sp>
      <p:sp>
        <p:nvSpPr>
          <p:cNvPr id="432" name="Google Shape;432;p20"/>
          <p:cNvSpPr/>
          <p:nvPr/>
        </p:nvSpPr>
        <p:spPr>
          <a:xfrm>
            <a:off x="1225477" y="1049775"/>
            <a:ext cx="554108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Char char="•"/>
            </a:pPr>
            <a:r>
              <a:rPr lang="fr-FR" sz="2400" b="1" i="0" u="none" strike="noStrike" cap="none">
                <a:solidFill>
                  <a:schemeClr val="dk1"/>
                </a:solidFill>
                <a:latin typeface="Calibri"/>
                <a:ea typeface="Calibri"/>
                <a:cs typeface="Calibri"/>
                <a:sym typeface="Calibri"/>
              </a:rPr>
              <a:t>Implémentation de la fonction </a:t>
            </a:r>
            <a:r>
              <a:rPr lang="fr-FR" sz="2400" b="1" i="0" u="none" strike="noStrike" cap="none">
                <a:solidFill>
                  <a:srgbClr val="FF0000"/>
                </a:solidFill>
                <a:latin typeface="Calibri"/>
                <a:ea typeface="Calibri"/>
                <a:cs typeface="Calibri"/>
                <a:sym typeface="Calibri"/>
              </a:rPr>
              <a:t>Loop() </a:t>
            </a:r>
            <a:endParaRPr sz="1400" b="0" i="0" u="none" strike="noStrike" cap="none">
              <a:solidFill>
                <a:srgbClr val="000000"/>
              </a:solidFill>
              <a:latin typeface="Arial"/>
              <a:ea typeface="Arial"/>
              <a:cs typeface="Arial"/>
              <a:sym typeface="Arial"/>
            </a:endParaRPr>
          </a:p>
        </p:txBody>
      </p:sp>
      <p:pic>
        <p:nvPicPr>
          <p:cNvPr id="433" name="Google Shape;433;p20"/>
          <p:cNvPicPr preferRelativeResize="0">
            <a:picLocks noGrp="1"/>
          </p:cNvPicPr>
          <p:nvPr>
            <p:ph type="body" idx="1"/>
          </p:nvPr>
        </p:nvPicPr>
        <p:blipFill rotWithShape="1">
          <a:blip r:embed="rId3">
            <a:alphaModFix/>
          </a:blip>
          <a:srcRect/>
          <a:stretch/>
        </p:blipFill>
        <p:spPr>
          <a:xfrm>
            <a:off x="1593669" y="1528354"/>
            <a:ext cx="9535885" cy="453281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21"/>
          <p:cNvSpPr txBox="1">
            <a:spLocks noGrp="1"/>
          </p:cNvSpPr>
          <p:nvPr>
            <p:ph type="title"/>
          </p:nvPr>
        </p:nvSpPr>
        <p:spPr>
          <a:xfrm>
            <a:off x="92964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a:t>   </a:t>
            </a:r>
            <a:r>
              <a:rPr lang="fr-FR">
                <a:latin typeface="Arial Black"/>
                <a:ea typeface="Arial Black"/>
                <a:cs typeface="Arial Black"/>
                <a:sym typeface="Arial Black"/>
              </a:rPr>
              <a:t>Code Arduino</a:t>
            </a:r>
            <a:endParaRPr>
              <a:latin typeface="Arial Black"/>
              <a:ea typeface="Arial Black"/>
              <a:cs typeface="Arial Black"/>
              <a:sym typeface="Arial Black"/>
            </a:endParaRPr>
          </a:p>
        </p:txBody>
      </p:sp>
      <p:sp>
        <p:nvSpPr>
          <p:cNvPr id="439" name="Google Shape;439;p21"/>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440" name="Google Shape;440;p21"/>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24</a:t>
            </a:fld>
            <a:endParaRPr/>
          </a:p>
        </p:txBody>
      </p:sp>
      <p:sp>
        <p:nvSpPr>
          <p:cNvPr id="441" name="Google Shape;441;p21"/>
          <p:cNvSpPr/>
          <p:nvPr/>
        </p:nvSpPr>
        <p:spPr>
          <a:xfrm>
            <a:off x="1225477" y="1049775"/>
            <a:ext cx="554108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Char char="•"/>
            </a:pPr>
            <a:r>
              <a:rPr lang="fr-FR" sz="2400" b="1" i="0" u="none" strike="noStrike" cap="none">
                <a:solidFill>
                  <a:schemeClr val="dk1"/>
                </a:solidFill>
                <a:latin typeface="Calibri"/>
                <a:ea typeface="Calibri"/>
                <a:cs typeface="Calibri"/>
                <a:sym typeface="Calibri"/>
              </a:rPr>
              <a:t>Implémentation de la fonction </a:t>
            </a:r>
            <a:r>
              <a:rPr lang="fr-FR" sz="2400" b="1" i="0" u="none" strike="noStrike" cap="none">
                <a:solidFill>
                  <a:srgbClr val="FF0000"/>
                </a:solidFill>
                <a:latin typeface="Calibri"/>
                <a:ea typeface="Calibri"/>
                <a:cs typeface="Calibri"/>
                <a:sym typeface="Calibri"/>
              </a:rPr>
              <a:t>Loop() </a:t>
            </a:r>
            <a:endParaRPr sz="1400" b="0" i="0" u="none" strike="noStrike" cap="none">
              <a:solidFill>
                <a:srgbClr val="000000"/>
              </a:solidFill>
              <a:latin typeface="Arial"/>
              <a:ea typeface="Arial"/>
              <a:cs typeface="Arial"/>
              <a:sym typeface="Arial"/>
            </a:endParaRPr>
          </a:p>
        </p:txBody>
      </p:sp>
      <p:pic>
        <p:nvPicPr>
          <p:cNvPr id="442" name="Google Shape;442;p21"/>
          <p:cNvPicPr preferRelativeResize="0"/>
          <p:nvPr/>
        </p:nvPicPr>
        <p:blipFill rotWithShape="1">
          <a:blip r:embed="rId3">
            <a:alphaModFix/>
          </a:blip>
          <a:srcRect/>
          <a:stretch/>
        </p:blipFill>
        <p:spPr>
          <a:xfrm>
            <a:off x="0" y="1606731"/>
            <a:ext cx="11691257" cy="488550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22"/>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Black"/>
              <a:buNone/>
            </a:pPr>
            <a:r>
              <a:rPr lang="fr-FR">
                <a:latin typeface="Arial Black"/>
                <a:ea typeface="Arial Black"/>
                <a:cs typeface="Arial Black"/>
                <a:sym typeface="Arial Black"/>
              </a:rPr>
              <a:t>  Test du code Arduino</a:t>
            </a:r>
            <a:endParaRPr>
              <a:latin typeface="Arial Black"/>
              <a:ea typeface="Arial Black"/>
              <a:cs typeface="Arial Black"/>
              <a:sym typeface="Arial Black"/>
            </a:endParaRPr>
          </a:p>
        </p:txBody>
      </p:sp>
      <p:sp>
        <p:nvSpPr>
          <p:cNvPr id="448" name="Google Shape;448;p22"/>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449" name="Google Shape;449;p22"/>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25</a:t>
            </a:fld>
            <a:endParaRPr/>
          </a:p>
        </p:txBody>
      </p:sp>
      <p:pic>
        <p:nvPicPr>
          <p:cNvPr id="450" name="Google Shape;450;p22"/>
          <p:cNvPicPr preferRelativeResize="0">
            <a:picLocks noGrp="1"/>
          </p:cNvPicPr>
          <p:nvPr>
            <p:ph type="body" idx="1"/>
          </p:nvPr>
        </p:nvPicPr>
        <p:blipFill rotWithShape="1">
          <a:blip r:embed="rId3">
            <a:alphaModFix/>
          </a:blip>
          <a:srcRect/>
          <a:stretch/>
        </p:blipFill>
        <p:spPr>
          <a:xfrm>
            <a:off x="3298236" y="1891168"/>
            <a:ext cx="4852987" cy="2955152"/>
          </a:xfrm>
          <a:prstGeom prst="rect">
            <a:avLst/>
          </a:prstGeom>
          <a:noFill/>
          <a:ln>
            <a:noFill/>
          </a:ln>
        </p:spPr>
      </p:pic>
      <p:sp>
        <p:nvSpPr>
          <p:cNvPr id="451" name="Google Shape;451;p22"/>
          <p:cNvSpPr txBox="1"/>
          <p:nvPr/>
        </p:nvSpPr>
        <p:spPr>
          <a:xfrm>
            <a:off x="862148" y="1423851"/>
            <a:ext cx="408618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dk1"/>
                </a:solidFill>
                <a:latin typeface="Calibri"/>
                <a:ea typeface="Calibri"/>
                <a:cs typeface="Calibri"/>
                <a:sym typeface="Calibri"/>
              </a:rPr>
              <a:t>1- Tester le code avec Moniteur série</a:t>
            </a:r>
            <a:endParaRPr sz="2000" b="1" i="0" u="none" strike="noStrike" cap="none">
              <a:solidFill>
                <a:schemeClr val="dk1"/>
              </a:solidFill>
              <a:latin typeface="Calibri"/>
              <a:ea typeface="Calibri"/>
              <a:cs typeface="Calibri"/>
              <a:sym typeface="Calibri"/>
            </a:endParaRPr>
          </a:p>
        </p:txBody>
      </p:sp>
      <p:sp>
        <p:nvSpPr>
          <p:cNvPr id="452" name="Google Shape;452;p22"/>
          <p:cNvSpPr/>
          <p:nvPr/>
        </p:nvSpPr>
        <p:spPr>
          <a:xfrm>
            <a:off x="914400" y="5074869"/>
            <a:ext cx="10384971"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a:buChar char="•"/>
            </a:pPr>
            <a:r>
              <a:rPr lang="fr-FR" sz="2000" b="0" i="0" u="none" strike="noStrike" cap="none">
                <a:solidFill>
                  <a:schemeClr val="dk1"/>
                </a:solidFill>
                <a:latin typeface="Calibri"/>
                <a:ea typeface="Calibri"/>
                <a:cs typeface="Calibri"/>
                <a:sym typeface="Calibri"/>
              </a:rPr>
              <a:t> Cette interface permet d’envoyer des données sur la voie série de votre ordinateur (qui est émulée </a:t>
            </a:r>
            <a:r>
              <a:rPr lang="fr-FR" sz="2000" b="0" i="0" u="sng" strike="noStrike" cap="none" baseline="30000">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 </a:t>
            </a:r>
            <a:r>
              <a:rPr lang="fr-FR" sz="2000" b="0" i="0" u="none" strike="noStrike" cap="none">
                <a:solidFill>
                  <a:schemeClr val="dk1"/>
                </a:solidFill>
                <a:latin typeface="Calibri"/>
                <a:ea typeface="Calibri"/>
                <a:cs typeface="Calibri"/>
                <a:sym typeface="Calibri"/>
              </a:rPr>
              <a:t>par l’Arduino) ; recevoir les messages que votre Arduino vous envoie ; et régler des paramètres tels que la vitesse de communication avec l’Arduino. </a:t>
            </a: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3"/>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Black"/>
              <a:buNone/>
            </a:pPr>
            <a:r>
              <a:rPr lang="fr-FR">
                <a:latin typeface="Arial Black"/>
                <a:ea typeface="Arial Black"/>
                <a:cs typeface="Arial Black"/>
                <a:sym typeface="Arial Black"/>
              </a:rPr>
              <a:t>  Test du code Arduino</a:t>
            </a:r>
            <a:endParaRPr>
              <a:latin typeface="Arial Black"/>
              <a:ea typeface="Arial Black"/>
              <a:cs typeface="Arial Black"/>
              <a:sym typeface="Arial Black"/>
            </a:endParaRPr>
          </a:p>
        </p:txBody>
      </p:sp>
      <p:sp>
        <p:nvSpPr>
          <p:cNvPr id="458" name="Google Shape;458;p23"/>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459" name="Google Shape;459;p23"/>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26</a:t>
            </a:fld>
            <a:endParaRPr/>
          </a:p>
        </p:txBody>
      </p:sp>
      <p:sp>
        <p:nvSpPr>
          <p:cNvPr id="460" name="Google Shape;460;p23"/>
          <p:cNvSpPr txBox="1"/>
          <p:nvPr/>
        </p:nvSpPr>
        <p:spPr>
          <a:xfrm>
            <a:off x="862148" y="1423851"/>
            <a:ext cx="408618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dk1"/>
                </a:solidFill>
                <a:latin typeface="Calibri"/>
                <a:ea typeface="Calibri"/>
                <a:cs typeface="Calibri"/>
                <a:sym typeface="Calibri"/>
              </a:rPr>
              <a:t>1- Tester le code avec Moniteur série</a:t>
            </a:r>
            <a:endParaRPr sz="2000" b="1" i="0" u="none" strike="noStrike" cap="none">
              <a:solidFill>
                <a:schemeClr val="dk1"/>
              </a:solidFill>
              <a:latin typeface="Calibri"/>
              <a:ea typeface="Calibri"/>
              <a:cs typeface="Calibri"/>
              <a:sym typeface="Calibri"/>
            </a:endParaRPr>
          </a:p>
        </p:txBody>
      </p:sp>
      <p:sp>
        <p:nvSpPr>
          <p:cNvPr id="461" name="Google Shape;461;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800"/>
              <a:buNone/>
            </a:pPr>
            <a:r>
              <a:rPr lang="fr-FR" sz="1800"/>
              <a:t>En tapant </a:t>
            </a:r>
            <a:r>
              <a:rPr lang="fr-FR" sz="1800">
                <a:solidFill>
                  <a:srgbClr val="FF0000"/>
                </a:solidFill>
              </a:rPr>
              <a:t>1</a:t>
            </a:r>
            <a:r>
              <a:rPr lang="fr-FR" sz="1800"/>
              <a:t>, la lampe reliée à la broche 13 s’allume.    </a:t>
            </a:r>
            <a:endParaRPr sz="1800"/>
          </a:p>
        </p:txBody>
      </p:sp>
      <p:pic>
        <p:nvPicPr>
          <p:cNvPr id="462" name="Google Shape;462;p23" descr="IMG_20181127_110118.jpg"/>
          <p:cNvPicPr preferRelativeResize="0"/>
          <p:nvPr/>
        </p:nvPicPr>
        <p:blipFill rotWithShape="1">
          <a:blip r:embed="rId3">
            <a:alphaModFix/>
          </a:blip>
          <a:srcRect/>
          <a:stretch/>
        </p:blipFill>
        <p:spPr>
          <a:xfrm>
            <a:off x="3709853" y="2468881"/>
            <a:ext cx="5003074" cy="35792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24"/>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Black"/>
              <a:buNone/>
            </a:pPr>
            <a:r>
              <a:rPr lang="fr-FR">
                <a:latin typeface="Arial Black"/>
                <a:ea typeface="Arial Black"/>
                <a:cs typeface="Arial Black"/>
                <a:sym typeface="Arial Black"/>
              </a:rPr>
              <a:t>  Test du code Arduino</a:t>
            </a:r>
            <a:endParaRPr>
              <a:latin typeface="Arial Black"/>
              <a:ea typeface="Arial Black"/>
              <a:cs typeface="Arial Black"/>
              <a:sym typeface="Arial Black"/>
            </a:endParaRPr>
          </a:p>
        </p:txBody>
      </p:sp>
      <p:sp>
        <p:nvSpPr>
          <p:cNvPr id="468" name="Google Shape;468;p24"/>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469" name="Google Shape;469;p2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27</a:t>
            </a:fld>
            <a:endParaRPr/>
          </a:p>
        </p:txBody>
      </p:sp>
      <p:sp>
        <p:nvSpPr>
          <p:cNvPr id="470" name="Google Shape;470;p24"/>
          <p:cNvSpPr txBox="1"/>
          <p:nvPr/>
        </p:nvSpPr>
        <p:spPr>
          <a:xfrm>
            <a:off x="862148" y="1423851"/>
            <a:ext cx="408618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dk1"/>
                </a:solidFill>
                <a:latin typeface="Calibri"/>
                <a:ea typeface="Calibri"/>
                <a:cs typeface="Calibri"/>
                <a:sym typeface="Calibri"/>
              </a:rPr>
              <a:t>1- Tester le code avec Moniteur série</a:t>
            </a:r>
            <a:endParaRPr sz="2000" b="1" i="0" u="none" strike="noStrike" cap="none">
              <a:solidFill>
                <a:schemeClr val="dk1"/>
              </a:solidFill>
              <a:latin typeface="Calibri"/>
              <a:ea typeface="Calibri"/>
              <a:cs typeface="Calibri"/>
              <a:sym typeface="Calibri"/>
            </a:endParaRPr>
          </a:p>
        </p:txBody>
      </p:sp>
      <p:sp>
        <p:nvSpPr>
          <p:cNvPr id="471" name="Google Shape;471;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800"/>
              <a:buNone/>
            </a:pPr>
            <a:r>
              <a:rPr lang="fr-FR" sz="1800"/>
              <a:t>En tapant </a:t>
            </a:r>
            <a:r>
              <a:rPr lang="fr-FR" sz="1800">
                <a:solidFill>
                  <a:srgbClr val="FF0000"/>
                </a:solidFill>
              </a:rPr>
              <a:t>0</a:t>
            </a:r>
            <a:r>
              <a:rPr lang="fr-FR" sz="1800"/>
              <a:t>, la  lampe reliée à la broche 13 s’éteint.    </a:t>
            </a:r>
            <a:endParaRPr sz="1800"/>
          </a:p>
        </p:txBody>
      </p:sp>
      <p:pic>
        <p:nvPicPr>
          <p:cNvPr id="472" name="Google Shape;472;p24" descr="IMG_20181127_110136.jpg"/>
          <p:cNvPicPr preferRelativeResize="0"/>
          <p:nvPr/>
        </p:nvPicPr>
        <p:blipFill rotWithShape="1">
          <a:blip r:embed="rId3">
            <a:alphaModFix/>
          </a:blip>
          <a:srcRect/>
          <a:stretch/>
        </p:blipFill>
        <p:spPr>
          <a:xfrm>
            <a:off x="3722914" y="2351315"/>
            <a:ext cx="5003075" cy="359228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25"/>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Black"/>
              <a:buNone/>
            </a:pPr>
            <a:r>
              <a:rPr lang="fr-FR">
                <a:latin typeface="Arial Black"/>
                <a:ea typeface="Arial Black"/>
                <a:cs typeface="Arial Black"/>
                <a:sym typeface="Arial Black"/>
              </a:rPr>
              <a:t>  Test du code Arduino</a:t>
            </a:r>
            <a:endParaRPr>
              <a:latin typeface="Arial Black"/>
              <a:ea typeface="Arial Black"/>
              <a:cs typeface="Arial Black"/>
              <a:sym typeface="Arial Black"/>
            </a:endParaRPr>
          </a:p>
        </p:txBody>
      </p:sp>
      <p:sp>
        <p:nvSpPr>
          <p:cNvPr id="478" name="Google Shape;478;p25"/>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479" name="Google Shape;479;p25"/>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28</a:t>
            </a:fld>
            <a:endParaRPr/>
          </a:p>
        </p:txBody>
      </p:sp>
      <p:sp>
        <p:nvSpPr>
          <p:cNvPr id="480" name="Google Shape;480;p25"/>
          <p:cNvSpPr txBox="1"/>
          <p:nvPr/>
        </p:nvSpPr>
        <p:spPr>
          <a:xfrm>
            <a:off x="862148" y="1423851"/>
            <a:ext cx="408618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dk1"/>
                </a:solidFill>
                <a:latin typeface="Calibri"/>
                <a:ea typeface="Calibri"/>
                <a:cs typeface="Calibri"/>
                <a:sym typeface="Calibri"/>
              </a:rPr>
              <a:t>1- Tester le code avec Moniteur série</a:t>
            </a:r>
            <a:endParaRPr sz="2000" b="1" i="0" u="none" strike="noStrike" cap="none">
              <a:solidFill>
                <a:schemeClr val="dk1"/>
              </a:solidFill>
              <a:latin typeface="Calibri"/>
              <a:ea typeface="Calibri"/>
              <a:cs typeface="Calibri"/>
              <a:sym typeface="Calibri"/>
            </a:endParaRPr>
          </a:p>
        </p:txBody>
      </p:sp>
      <p:sp>
        <p:nvSpPr>
          <p:cNvPr id="481" name="Google Shape;481;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800"/>
              <a:buNone/>
            </a:pPr>
            <a:r>
              <a:rPr lang="fr-FR" sz="1800"/>
              <a:t>En tapant </a:t>
            </a:r>
            <a:r>
              <a:rPr lang="fr-FR" sz="1800">
                <a:solidFill>
                  <a:srgbClr val="FF0000"/>
                </a:solidFill>
              </a:rPr>
              <a:t>2</a:t>
            </a:r>
            <a:r>
              <a:rPr lang="fr-FR" sz="1800"/>
              <a:t>  , l’intensité de la lumière de la lampe branchée sur la broche 11 augmente.</a:t>
            </a:r>
            <a:endParaRPr sz="1800"/>
          </a:p>
        </p:txBody>
      </p:sp>
      <p:pic>
        <p:nvPicPr>
          <p:cNvPr id="482" name="Google Shape;482;p25" descr="IMG_20181127_110155.jpg"/>
          <p:cNvPicPr preferRelativeResize="0"/>
          <p:nvPr/>
        </p:nvPicPr>
        <p:blipFill rotWithShape="1">
          <a:blip r:embed="rId3">
            <a:alphaModFix/>
          </a:blip>
          <a:srcRect/>
          <a:stretch/>
        </p:blipFill>
        <p:spPr>
          <a:xfrm>
            <a:off x="740228" y="2834638"/>
            <a:ext cx="4511041" cy="2547259"/>
          </a:xfrm>
          <a:prstGeom prst="rect">
            <a:avLst/>
          </a:prstGeom>
          <a:noFill/>
          <a:ln>
            <a:noFill/>
          </a:ln>
        </p:spPr>
      </p:pic>
      <p:pic>
        <p:nvPicPr>
          <p:cNvPr id="483" name="Google Shape;483;p25" descr="IMG_20181127_110213.jpg"/>
          <p:cNvPicPr preferRelativeResize="0"/>
          <p:nvPr/>
        </p:nvPicPr>
        <p:blipFill rotWithShape="1">
          <a:blip r:embed="rId4">
            <a:alphaModFix/>
          </a:blip>
          <a:srcRect/>
          <a:stretch/>
        </p:blipFill>
        <p:spPr>
          <a:xfrm>
            <a:off x="6348549" y="2834640"/>
            <a:ext cx="4685210" cy="239050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2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a:t>   </a:t>
            </a:r>
            <a:r>
              <a:rPr lang="fr-FR">
                <a:latin typeface="Arial Black"/>
                <a:ea typeface="Arial Black"/>
                <a:cs typeface="Arial Black"/>
                <a:sym typeface="Arial Black"/>
              </a:rPr>
              <a:t>Interface QT</a:t>
            </a:r>
            <a:endParaRPr>
              <a:latin typeface="Arial Black"/>
              <a:ea typeface="Arial Black"/>
              <a:cs typeface="Arial Black"/>
              <a:sym typeface="Arial Black"/>
            </a:endParaRPr>
          </a:p>
        </p:txBody>
      </p:sp>
      <p:sp>
        <p:nvSpPr>
          <p:cNvPr id="489" name="Google Shape;489;p26"/>
          <p:cNvSpPr txBox="1">
            <a:spLocks noGrp="1"/>
          </p:cNvSpPr>
          <p:nvPr>
            <p:ph type="body" idx="1"/>
          </p:nvPr>
        </p:nvSpPr>
        <p:spPr>
          <a:xfrm>
            <a:off x="812074" y="1433740"/>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400"/>
              <a:buChar char="•"/>
            </a:pPr>
            <a:r>
              <a:rPr lang="fr-FR" sz="2400"/>
              <a:t>Implémentation du fichier </a:t>
            </a:r>
            <a:r>
              <a:rPr lang="fr-FR" sz="2400">
                <a:solidFill>
                  <a:srgbClr val="FF0000"/>
                </a:solidFill>
              </a:rPr>
              <a:t>Arduino.h</a:t>
            </a:r>
            <a:endParaRPr sz="2400">
              <a:solidFill>
                <a:srgbClr val="FF0000"/>
              </a:solidFill>
            </a:endParaRPr>
          </a:p>
          <a:p>
            <a:pPr marL="228600" lvl="0" indent="-228600" algn="l" rtl="0">
              <a:lnSpc>
                <a:spcPct val="90000"/>
              </a:lnSpc>
              <a:spcBef>
                <a:spcPts val="1000"/>
              </a:spcBef>
              <a:spcAft>
                <a:spcPts val="0"/>
              </a:spcAft>
              <a:buClr>
                <a:schemeClr val="dk1"/>
              </a:buClr>
              <a:buSzPts val="2800"/>
              <a:buNone/>
            </a:pPr>
            <a:endParaRPr/>
          </a:p>
        </p:txBody>
      </p:sp>
      <p:sp>
        <p:nvSpPr>
          <p:cNvPr id="490" name="Google Shape;490;p26"/>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491" name="Google Shape;491;p2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29</a:t>
            </a:fld>
            <a:endParaRPr/>
          </a:p>
        </p:txBody>
      </p:sp>
      <p:sp>
        <p:nvSpPr>
          <p:cNvPr id="492" name="Google Shape;492;p26"/>
          <p:cNvSpPr txBox="1"/>
          <p:nvPr/>
        </p:nvSpPr>
        <p:spPr>
          <a:xfrm>
            <a:off x="888273" y="1515291"/>
            <a:ext cx="794221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Noto Sans Symbols"/>
              <a:buChar char="⮚"/>
            </a:pPr>
            <a:r>
              <a:rPr lang="fr-FR" sz="1800" b="0" i="0" u="none" strike="noStrike" cap="none">
                <a:solidFill>
                  <a:schemeClr val="dk1"/>
                </a:solidFill>
                <a:latin typeface="Calibri"/>
                <a:ea typeface="Calibri"/>
                <a:cs typeface="Calibri"/>
                <a:sym typeface="Calibri"/>
              </a:rPr>
              <a:t> </a:t>
            </a:r>
            <a:r>
              <a:rPr lang="fr-FR" sz="2400" b="1" i="0" u="none" strike="noStrike" cap="none">
                <a:solidFill>
                  <a:schemeClr val="dk1"/>
                </a:solidFill>
                <a:latin typeface="Calibri"/>
                <a:ea typeface="Calibri"/>
                <a:cs typeface="Calibri"/>
                <a:sym typeface="Calibri"/>
              </a:rPr>
              <a:t>Implémentation de la classe purement C++ Arduino</a:t>
            </a:r>
            <a:endParaRPr sz="2400" b="1" i="0" u="none" strike="noStrike" cap="none">
              <a:solidFill>
                <a:schemeClr val="dk1"/>
              </a:solidFill>
              <a:latin typeface="Calibri"/>
              <a:ea typeface="Calibri"/>
              <a:cs typeface="Calibri"/>
              <a:sym typeface="Calibri"/>
            </a:endParaRPr>
          </a:p>
        </p:txBody>
      </p:sp>
      <p:sp>
        <p:nvSpPr>
          <p:cNvPr id="493" name="Google Shape;493;p26"/>
          <p:cNvSpPr txBox="1"/>
          <p:nvPr/>
        </p:nvSpPr>
        <p:spPr>
          <a:xfrm>
            <a:off x="849086" y="4480560"/>
            <a:ext cx="10437223"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400"/>
              <a:buFont typeface="Arial"/>
              <a:buChar char="•"/>
            </a:pPr>
            <a:r>
              <a:rPr lang="fr-FR" sz="2400" b="0" i="0" u="none" strike="noStrike" cap="none">
                <a:solidFill>
                  <a:schemeClr val="dk1"/>
                </a:solidFill>
                <a:latin typeface="Calibri"/>
                <a:ea typeface="Calibri"/>
                <a:cs typeface="Calibri"/>
                <a:sym typeface="Calibri"/>
              </a:rPr>
              <a:t> Pour permettre à l’application de prendre en considération ces deux classes, il faut  ajouter cette ligne dans le fichier d’extension </a:t>
            </a:r>
            <a:r>
              <a:rPr lang="fr-FR" sz="2400" b="0" i="0" u="none" strike="noStrike" cap="none">
                <a:solidFill>
                  <a:srgbClr val="FF0000"/>
                </a:solidFill>
                <a:latin typeface="Calibri"/>
                <a:ea typeface="Calibri"/>
                <a:cs typeface="Calibri"/>
                <a:sym typeface="Calibri"/>
              </a:rPr>
              <a:t>.pro</a:t>
            </a:r>
            <a:r>
              <a:rPr lang="fr-FR" sz="2400" b="0" i="0" u="none" strike="noStrike" cap="none">
                <a:solidFill>
                  <a:schemeClr val="dk1"/>
                </a:solidFill>
                <a:latin typeface="Calibri"/>
                <a:ea typeface="Calibri"/>
                <a:cs typeface="Calibri"/>
                <a:sym typeface="Calibri"/>
              </a:rPr>
              <a:t>.</a:t>
            </a:r>
            <a:endParaRPr sz="2400" b="0" i="0" u="none" strike="noStrike" cap="none">
              <a:solidFill>
                <a:schemeClr val="dk1"/>
              </a:solidFill>
              <a:latin typeface="Calibri"/>
              <a:ea typeface="Calibri"/>
              <a:cs typeface="Calibri"/>
              <a:sym typeface="Calibri"/>
            </a:endParaRPr>
          </a:p>
        </p:txBody>
      </p:sp>
      <p:pic>
        <p:nvPicPr>
          <p:cNvPr id="494" name="Google Shape;494;p26"/>
          <p:cNvPicPr preferRelativeResize="0"/>
          <p:nvPr/>
        </p:nvPicPr>
        <p:blipFill rotWithShape="1">
          <a:blip r:embed="rId3">
            <a:alphaModFix/>
          </a:blip>
          <a:srcRect/>
          <a:stretch/>
        </p:blipFill>
        <p:spPr>
          <a:xfrm>
            <a:off x="4637314" y="5623014"/>
            <a:ext cx="2534193" cy="843099"/>
          </a:xfrm>
          <a:prstGeom prst="rect">
            <a:avLst/>
          </a:prstGeom>
          <a:noFill/>
          <a:ln>
            <a:noFill/>
          </a:ln>
        </p:spPr>
      </p:pic>
      <p:pic>
        <p:nvPicPr>
          <p:cNvPr id="495" name="Google Shape;495;p26"/>
          <p:cNvPicPr preferRelativeResize="0"/>
          <p:nvPr/>
        </p:nvPicPr>
        <p:blipFill rotWithShape="1">
          <a:blip r:embed="rId4">
            <a:alphaModFix/>
          </a:blip>
          <a:srcRect/>
          <a:stretch/>
        </p:blipFill>
        <p:spPr>
          <a:xfrm>
            <a:off x="1162594" y="3006771"/>
            <a:ext cx="9432744" cy="166973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27"/>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a:t>   </a:t>
            </a:r>
            <a:r>
              <a:rPr lang="fr-FR">
                <a:latin typeface="Arial Black"/>
                <a:ea typeface="Arial Black"/>
                <a:cs typeface="Arial Black"/>
                <a:sym typeface="Arial Black"/>
              </a:rPr>
              <a:t>Interface QT</a:t>
            </a:r>
            <a:endParaRPr>
              <a:latin typeface="Arial Black"/>
              <a:ea typeface="Arial Black"/>
              <a:cs typeface="Arial Black"/>
              <a:sym typeface="Arial Black"/>
            </a:endParaRPr>
          </a:p>
        </p:txBody>
      </p:sp>
      <p:sp>
        <p:nvSpPr>
          <p:cNvPr id="501" name="Google Shape;501;p27"/>
          <p:cNvSpPr txBox="1">
            <a:spLocks noGrp="1"/>
          </p:cNvSpPr>
          <p:nvPr>
            <p:ph type="body" idx="1"/>
          </p:nvPr>
        </p:nvSpPr>
        <p:spPr>
          <a:xfrm>
            <a:off x="812074" y="1250859"/>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fr-FR" sz="2000" b="1"/>
              <a:t>Implémentation de </a:t>
            </a:r>
            <a:r>
              <a:rPr lang="fr-FR" sz="2000" b="1">
                <a:solidFill>
                  <a:srgbClr val="FF0000"/>
                </a:solidFill>
              </a:rPr>
              <a:t>Arduino.h</a:t>
            </a:r>
            <a:endParaRPr sz="2000" b="1">
              <a:solidFill>
                <a:srgbClr val="FF0000"/>
              </a:solidFill>
            </a:endParaRPr>
          </a:p>
        </p:txBody>
      </p:sp>
      <p:sp>
        <p:nvSpPr>
          <p:cNvPr id="502" name="Google Shape;502;p27"/>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503" name="Google Shape;503;p2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30</a:t>
            </a:fld>
            <a:endParaRPr/>
          </a:p>
        </p:txBody>
      </p:sp>
      <p:pic>
        <p:nvPicPr>
          <p:cNvPr id="3" name="Image 2">
            <a:extLst>
              <a:ext uri="{FF2B5EF4-FFF2-40B4-BE49-F238E27FC236}">
                <a16:creationId xmlns:a16="http://schemas.microsoft.com/office/drawing/2014/main" id="{32F751DE-539F-2139-554B-757932ACC22A}"/>
              </a:ext>
            </a:extLst>
          </p:cNvPr>
          <p:cNvPicPr>
            <a:picLocks noChangeAspect="1"/>
          </p:cNvPicPr>
          <p:nvPr/>
        </p:nvPicPr>
        <p:blipFill>
          <a:blip r:embed="rId3"/>
          <a:stretch>
            <a:fillRect/>
          </a:stretch>
        </p:blipFill>
        <p:spPr>
          <a:xfrm>
            <a:off x="1342595" y="1922698"/>
            <a:ext cx="9412584" cy="4135201"/>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28"/>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a:t>   </a:t>
            </a:r>
            <a:r>
              <a:rPr lang="fr-FR">
                <a:latin typeface="Arial Black"/>
                <a:ea typeface="Arial Black"/>
                <a:cs typeface="Arial Black"/>
                <a:sym typeface="Arial Black"/>
              </a:rPr>
              <a:t>Interface QT</a:t>
            </a:r>
            <a:endParaRPr>
              <a:latin typeface="Arial Black"/>
              <a:ea typeface="Arial Black"/>
              <a:cs typeface="Arial Black"/>
              <a:sym typeface="Arial Black"/>
            </a:endParaRPr>
          </a:p>
        </p:txBody>
      </p:sp>
      <p:sp>
        <p:nvSpPr>
          <p:cNvPr id="510" name="Google Shape;510;p28"/>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511" name="Google Shape;511;p28"/>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31</a:t>
            </a:fld>
            <a:endParaRPr/>
          </a:p>
        </p:txBody>
      </p:sp>
      <p:sp>
        <p:nvSpPr>
          <p:cNvPr id="512" name="Google Shape;512;p28"/>
          <p:cNvSpPr/>
          <p:nvPr/>
        </p:nvSpPr>
        <p:spPr>
          <a:xfrm>
            <a:off x="888060" y="1271842"/>
            <a:ext cx="387988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Char char="•"/>
            </a:pPr>
            <a:r>
              <a:rPr lang="fr-FR" sz="1800" b="1" i="0" u="none" strike="noStrike" cap="none">
                <a:solidFill>
                  <a:schemeClr val="dk1"/>
                </a:solidFill>
                <a:latin typeface="Calibri"/>
                <a:ea typeface="Calibri"/>
                <a:cs typeface="Calibri"/>
                <a:sym typeface="Calibri"/>
              </a:rPr>
              <a:t> Implémentation de </a:t>
            </a:r>
            <a:r>
              <a:rPr lang="fr-FR" sz="1800" b="1" i="0" u="none" strike="noStrike" cap="none">
                <a:solidFill>
                  <a:srgbClr val="FF0000"/>
                </a:solidFill>
                <a:latin typeface="Calibri"/>
                <a:ea typeface="Calibri"/>
                <a:cs typeface="Calibri"/>
                <a:sym typeface="Calibri"/>
              </a:rPr>
              <a:t>Arduino.cpp</a:t>
            </a:r>
            <a:endParaRPr sz="1800" b="1" i="0" u="none" strike="noStrike" cap="none">
              <a:solidFill>
                <a:srgbClr val="FF0000"/>
              </a:solidFill>
              <a:latin typeface="Calibri"/>
              <a:ea typeface="Calibri"/>
              <a:cs typeface="Calibri"/>
              <a:sym typeface="Calibri"/>
            </a:endParaRPr>
          </a:p>
        </p:txBody>
      </p:sp>
      <p:sp>
        <p:nvSpPr>
          <p:cNvPr id="513" name="Google Shape;513;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514" name="Google Shape;514;p28"/>
          <p:cNvPicPr preferRelativeResize="0"/>
          <p:nvPr/>
        </p:nvPicPr>
        <p:blipFill rotWithShape="1">
          <a:blip r:embed="rId3">
            <a:alphaModFix/>
          </a:blip>
          <a:srcRect/>
          <a:stretch/>
        </p:blipFill>
        <p:spPr>
          <a:xfrm>
            <a:off x="509451" y="1676399"/>
            <a:ext cx="11207931" cy="502484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29"/>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a:t>   </a:t>
            </a:r>
            <a:r>
              <a:rPr lang="fr-FR">
                <a:latin typeface="Arial Black"/>
                <a:ea typeface="Arial Black"/>
                <a:cs typeface="Arial Black"/>
                <a:sym typeface="Arial Black"/>
              </a:rPr>
              <a:t>Interface QT</a:t>
            </a:r>
            <a:endParaRPr>
              <a:latin typeface="Arial Black"/>
              <a:ea typeface="Arial Black"/>
              <a:cs typeface="Arial Black"/>
              <a:sym typeface="Arial Black"/>
            </a:endParaRPr>
          </a:p>
        </p:txBody>
      </p:sp>
      <p:sp>
        <p:nvSpPr>
          <p:cNvPr id="520" name="Google Shape;520;p29"/>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521" name="Google Shape;521;p29"/>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32</a:t>
            </a:fld>
            <a:endParaRPr/>
          </a:p>
        </p:txBody>
      </p:sp>
      <p:sp>
        <p:nvSpPr>
          <p:cNvPr id="522" name="Google Shape;522;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523" name="Google Shape;523;p29"/>
          <p:cNvPicPr preferRelativeResize="0"/>
          <p:nvPr/>
        </p:nvPicPr>
        <p:blipFill rotWithShape="1">
          <a:blip r:embed="rId3">
            <a:alphaModFix/>
          </a:blip>
          <a:srcRect/>
          <a:stretch/>
        </p:blipFill>
        <p:spPr>
          <a:xfrm>
            <a:off x="3357154" y="2376488"/>
            <a:ext cx="5394960" cy="3436483"/>
          </a:xfrm>
          <a:prstGeom prst="rect">
            <a:avLst/>
          </a:prstGeom>
          <a:noFill/>
          <a:ln>
            <a:noFill/>
          </a:ln>
        </p:spPr>
      </p:pic>
      <p:sp>
        <p:nvSpPr>
          <p:cNvPr id="524" name="Google Shape;524;p29"/>
          <p:cNvSpPr/>
          <p:nvPr/>
        </p:nvSpPr>
        <p:spPr>
          <a:xfrm>
            <a:off x="940312" y="1389408"/>
            <a:ext cx="387988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Char char="•"/>
            </a:pPr>
            <a:r>
              <a:rPr lang="fr-FR" sz="1800" b="1" i="0" u="none" strike="noStrike" cap="none">
                <a:solidFill>
                  <a:schemeClr val="dk1"/>
                </a:solidFill>
                <a:latin typeface="Calibri"/>
                <a:ea typeface="Calibri"/>
                <a:cs typeface="Calibri"/>
                <a:sym typeface="Calibri"/>
              </a:rPr>
              <a:t> Implémentation de </a:t>
            </a:r>
            <a:r>
              <a:rPr lang="fr-FR" sz="1800" b="1" i="0" u="none" strike="noStrike" cap="none">
                <a:solidFill>
                  <a:srgbClr val="FF0000"/>
                </a:solidFill>
                <a:latin typeface="Calibri"/>
                <a:ea typeface="Calibri"/>
                <a:cs typeface="Calibri"/>
                <a:sym typeface="Calibri"/>
              </a:rPr>
              <a:t>Arduino.cpp</a:t>
            </a:r>
            <a:endParaRPr sz="1800" b="1" i="0" u="none" strike="noStrike" cap="none">
              <a:solidFill>
                <a:srgbClr val="FF0000"/>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30"/>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530" name="Google Shape;530;p30"/>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33</a:t>
            </a:fld>
            <a:endParaRPr/>
          </a:p>
        </p:txBody>
      </p:sp>
      <p:sp>
        <p:nvSpPr>
          <p:cNvPr id="531" name="Google Shape;531;p30"/>
          <p:cNvSpPr txBox="1"/>
          <p:nvPr/>
        </p:nvSpPr>
        <p:spPr>
          <a:xfrm>
            <a:off x="990600" y="308522"/>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Calibri"/>
              <a:buNone/>
            </a:pPr>
            <a:r>
              <a:rPr lang="fr-FR" sz="4400" b="0" i="0" u="none" strike="noStrike" cap="none">
                <a:solidFill>
                  <a:schemeClr val="dk1"/>
                </a:solidFill>
                <a:latin typeface="Calibri"/>
                <a:ea typeface="Calibri"/>
                <a:cs typeface="Calibri"/>
                <a:sym typeface="Calibri"/>
              </a:rPr>
              <a:t>   </a:t>
            </a:r>
            <a:r>
              <a:rPr lang="fr-FR" sz="4400" b="0" i="0" u="none" strike="noStrike" cap="none">
                <a:solidFill>
                  <a:schemeClr val="dk1"/>
                </a:solidFill>
                <a:latin typeface="Arial Black"/>
                <a:ea typeface="Arial Black"/>
                <a:cs typeface="Arial Black"/>
                <a:sym typeface="Arial Black"/>
              </a:rPr>
              <a:t>Interface QT</a:t>
            </a:r>
            <a:endParaRPr sz="4400" b="0" i="0" u="none" strike="noStrike" cap="none">
              <a:solidFill>
                <a:schemeClr val="dk1"/>
              </a:solidFill>
              <a:latin typeface="Arial Black"/>
              <a:ea typeface="Arial Black"/>
              <a:cs typeface="Arial Black"/>
              <a:sym typeface="Arial Black"/>
            </a:endParaRPr>
          </a:p>
        </p:txBody>
      </p:sp>
      <p:sp>
        <p:nvSpPr>
          <p:cNvPr id="532" name="Google Shape;532;p30"/>
          <p:cNvSpPr/>
          <p:nvPr/>
        </p:nvSpPr>
        <p:spPr>
          <a:xfrm>
            <a:off x="940312" y="1389408"/>
            <a:ext cx="387988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Char char="•"/>
            </a:pPr>
            <a:r>
              <a:rPr lang="fr-FR" sz="1800" b="1" i="0" u="none" strike="noStrike" cap="none">
                <a:solidFill>
                  <a:schemeClr val="dk1"/>
                </a:solidFill>
                <a:latin typeface="Calibri"/>
                <a:ea typeface="Calibri"/>
                <a:cs typeface="Calibri"/>
                <a:sym typeface="Calibri"/>
              </a:rPr>
              <a:t> Implémentation de </a:t>
            </a:r>
            <a:r>
              <a:rPr lang="fr-FR" sz="1800" b="1" i="0" u="none" strike="noStrike" cap="none">
                <a:solidFill>
                  <a:srgbClr val="FF0000"/>
                </a:solidFill>
                <a:latin typeface="Calibri"/>
                <a:ea typeface="Calibri"/>
                <a:cs typeface="Calibri"/>
                <a:sym typeface="Calibri"/>
              </a:rPr>
              <a:t>Arduino.cpp</a:t>
            </a:r>
            <a:endParaRPr sz="1800" b="1" i="0" u="none" strike="noStrike" cap="none">
              <a:solidFill>
                <a:srgbClr val="FF0000"/>
              </a:solidFill>
              <a:latin typeface="Calibri"/>
              <a:ea typeface="Calibri"/>
              <a:cs typeface="Calibri"/>
              <a:sym typeface="Calibri"/>
            </a:endParaRPr>
          </a:p>
        </p:txBody>
      </p:sp>
      <p:pic>
        <p:nvPicPr>
          <p:cNvPr id="533" name="Google Shape;533;p30"/>
          <p:cNvPicPr preferRelativeResize="0"/>
          <p:nvPr/>
        </p:nvPicPr>
        <p:blipFill rotWithShape="1">
          <a:blip r:embed="rId3">
            <a:alphaModFix/>
          </a:blip>
          <a:srcRect/>
          <a:stretch/>
        </p:blipFill>
        <p:spPr>
          <a:xfrm>
            <a:off x="1319350" y="1972490"/>
            <a:ext cx="9026434" cy="369678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31"/>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539" name="Google Shape;539;p31"/>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34</a:t>
            </a:fld>
            <a:endParaRPr/>
          </a:p>
        </p:txBody>
      </p:sp>
      <p:sp>
        <p:nvSpPr>
          <p:cNvPr id="540" name="Google Shape;540;p31"/>
          <p:cNvSpPr txBox="1"/>
          <p:nvPr/>
        </p:nvSpPr>
        <p:spPr>
          <a:xfrm>
            <a:off x="990600" y="308522"/>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Calibri"/>
              <a:buNone/>
            </a:pPr>
            <a:r>
              <a:rPr lang="fr-FR" sz="4400" b="0" i="0" u="none" strike="noStrike" cap="none">
                <a:solidFill>
                  <a:schemeClr val="dk1"/>
                </a:solidFill>
                <a:latin typeface="Calibri"/>
                <a:ea typeface="Calibri"/>
                <a:cs typeface="Calibri"/>
                <a:sym typeface="Calibri"/>
              </a:rPr>
              <a:t>   </a:t>
            </a:r>
            <a:r>
              <a:rPr lang="fr-FR" sz="4400" b="0" i="0" u="none" strike="noStrike" cap="none">
                <a:solidFill>
                  <a:schemeClr val="dk1"/>
                </a:solidFill>
                <a:latin typeface="Arial Black"/>
                <a:ea typeface="Arial Black"/>
                <a:cs typeface="Arial Black"/>
                <a:sym typeface="Arial Black"/>
              </a:rPr>
              <a:t>Interface QT</a:t>
            </a:r>
            <a:endParaRPr sz="4400" b="0" i="0" u="none" strike="noStrike" cap="none">
              <a:solidFill>
                <a:schemeClr val="dk1"/>
              </a:solidFill>
              <a:latin typeface="Arial Black"/>
              <a:ea typeface="Arial Black"/>
              <a:cs typeface="Arial Black"/>
              <a:sym typeface="Arial Black"/>
            </a:endParaRPr>
          </a:p>
        </p:txBody>
      </p:sp>
      <p:sp>
        <p:nvSpPr>
          <p:cNvPr id="541" name="Google Shape;541;p31"/>
          <p:cNvSpPr/>
          <p:nvPr/>
        </p:nvSpPr>
        <p:spPr>
          <a:xfrm>
            <a:off x="940312" y="1389408"/>
            <a:ext cx="387988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Char char="•"/>
            </a:pPr>
            <a:r>
              <a:rPr lang="fr-FR" sz="1800" b="1" i="0" u="none" strike="noStrike" cap="none">
                <a:solidFill>
                  <a:schemeClr val="dk1"/>
                </a:solidFill>
                <a:latin typeface="Calibri"/>
                <a:ea typeface="Calibri"/>
                <a:cs typeface="Calibri"/>
                <a:sym typeface="Calibri"/>
              </a:rPr>
              <a:t> Implémentation de </a:t>
            </a:r>
            <a:r>
              <a:rPr lang="fr-FR" sz="1800" b="1" i="0" u="none" strike="noStrike" cap="none">
                <a:solidFill>
                  <a:srgbClr val="FF0000"/>
                </a:solidFill>
                <a:latin typeface="Calibri"/>
                <a:ea typeface="Calibri"/>
                <a:cs typeface="Calibri"/>
                <a:sym typeface="Calibri"/>
              </a:rPr>
              <a:t>Arduino.cpp</a:t>
            </a:r>
            <a:endParaRPr sz="1800" b="1" i="0" u="none" strike="noStrike" cap="none">
              <a:solidFill>
                <a:srgbClr val="FF0000"/>
              </a:solidFill>
              <a:latin typeface="Calibri"/>
              <a:ea typeface="Calibri"/>
              <a:cs typeface="Calibri"/>
              <a:sym typeface="Calibri"/>
            </a:endParaRPr>
          </a:p>
        </p:txBody>
      </p:sp>
      <p:pic>
        <p:nvPicPr>
          <p:cNvPr id="3" name="Image 2">
            <a:extLst>
              <a:ext uri="{FF2B5EF4-FFF2-40B4-BE49-F238E27FC236}">
                <a16:creationId xmlns:a16="http://schemas.microsoft.com/office/drawing/2014/main" id="{25238E59-3FA0-5AA7-3B73-B8F895939A9B}"/>
              </a:ext>
            </a:extLst>
          </p:cNvPr>
          <p:cNvPicPr>
            <a:picLocks noChangeAspect="1"/>
          </p:cNvPicPr>
          <p:nvPr/>
        </p:nvPicPr>
        <p:blipFill>
          <a:blip r:embed="rId3"/>
          <a:stretch>
            <a:fillRect/>
          </a:stretch>
        </p:blipFill>
        <p:spPr>
          <a:xfrm>
            <a:off x="1047522" y="2416122"/>
            <a:ext cx="9125177" cy="317314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32"/>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548" name="Google Shape;548;p32"/>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35</a:t>
            </a:fld>
            <a:endParaRPr/>
          </a:p>
        </p:txBody>
      </p:sp>
      <p:sp>
        <p:nvSpPr>
          <p:cNvPr id="549" name="Google Shape;549;p32"/>
          <p:cNvSpPr txBox="1"/>
          <p:nvPr/>
        </p:nvSpPr>
        <p:spPr>
          <a:xfrm>
            <a:off x="990600" y="334648"/>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Calibri"/>
              <a:buNone/>
            </a:pPr>
            <a:r>
              <a:rPr lang="fr-FR" sz="4400" b="0" i="0" u="none" strike="noStrike" cap="none">
                <a:solidFill>
                  <a:schemeClr val="dk1"/>
                </a:solidFill>
                <a:latin typeface="Calibri"/>
                <a:ea typeface="Calibri"/>
                <a:cs typeface="Calibri"/>
                <a:sym typeface="Calibri"/>
              </a:rPr>
              <a:t>   </a:t>
            </a:r>
            <a:r>
              <a:rPr lang="fr-FR" sz="4400" b="0" i="0" u="none" strike="noStrike" cap="none">
                <a:solidFill>
                  <a:schemeClr val="dk1"/>
                </a:solidFill>
                <a:latin typeface="Arial Black"/>
                <a:ea typeface="Arial Black"/>
                <a:cs typeface="Arial Black"/>
                <a:sym typeface="Arial Black"/>
              </a:rPr>
              <a:t>Interface QT</a:t>
            </a:r>
            <a:endParaRPr sz="4400" b="0" i="0" u="none" strike="noStrike" cap="none">
              <a:solidFill>
                <a:schemeClr val="dk1"/>
              </a:solidFill>
              <a:latin typeface="Arial Black"/>
              <a:ea typeface="Arial Black"/>
              <a:cs typeface="Arial Black"/>
              <a:sym typeface="Arial Black"/>
            </a:endParaRPr>
          </a:p>
        </p:txBody>
      </p:sp>
      <p:sp>
        <p:nvSpPr>
          <p:cNvPr id="550" name="Google Shape;550;p32"/>
          <p:cNvSpPr/>
          <p:nvPr/>
        </p:nvSpPr>
        <p:spPr>
          <a:xfrm>
            <a:off x="940312" y="1389408"/>
            <a:ext cx="662308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Char char="•"/>
            </a:pPr>
            <a:r>
              <a:rPr lang="fr-FR" sz="1800" b="1" i="0" u="none" strike="noStrike" cap="none">
                <a:solidFill>
                  <a:schemeClr val="dk1"/>
                </a:solidFill>
                <a:latin typeface="Calibri"/>
                <a:ea typeface="Calibri"/>
                <a:cs typeface="Calibri"/>
                <a:sym typeface="Calibri"/>
              </a:rPr>
              <a:t> Implémentation de la classe d’interface graphique </a:t>
            </a:r>
            <a:r>
              <a:rPr lang="fr-FR" sz="1800" b="1" i="0" u="none" strike="noStrike" cap="none">
                <a:solidFill>
                  <a:srgbClr val="FF0000"/>
                </a:solidFill>
                <a:latin typeface="Calibri"/>
                <a:ea typeface="Calibri"/>
                <a:cs typeface="Calibri"/>
                <a:sym typeface="Calibri"/>
              </a:rPr>
              <a:t>Mainwindow.h</a:t>
            </a:r>
            <a:endParaRPr sz="1800" b="1" i="0" u="none" strike="noStrike" cap="none">
              <a:solidFill>
                <a:srgbClr val="FF0000"/>
              </a:solidFill>
              <a:latin typeface="Calibri"/>
              <a:ea typeface="Calibri"/>
              <a:cs typeface="Calibri"/>
              <a:sym typeface="Calibri"/>
            </a:endParaRPr>
          </a:p>
        </p:txBody>
      </p:sp>
      <p:pic>
        <p:nvPicPr>
          <p:cNvPr id="551" name="Google Shape;551;p32"/>
          <p:cNvPicPr preferRelativeResize="0">
            <a:picLocks noGrp="1"/>
          </p:cNvPicPr>
          <p:nvPr>
            <p:ph type="body" idx="1"/>
          </p:nvPr>
        </p:nvPicPr>
        <p:blipFill rotWithShape="1">
          <a:blip r:embed="rId3">
            <a:alphaModFix/>
          </a:blip>
          <a:srcRect/>
          <a:stretch/>
        </p:blipFill>
        <p:spPr>
          <a:xfrm>
            <a:off x="1555267" y="2059390"/>
            <a:ext cx="7841100" cy="42192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33"/>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557" name="Google Shape;557;p33"/>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36</a:t>
            </a:fld>
            <a:endParaRPr/>
          </a:p>
        </p:txBody>
      </p:sp>
      <p:sp>
        <p:nvSpPr>
          <p:cNvPr id="558" name="Google Shape;558;p33"/>
          <p:cNvSpPr txBox="1"/>
          <p:nvPr/>
        </p:nvSpPr>
        <p:spPr>
          <a:xfrm>
            <a:off x="990600" y="321584"/>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Calibri"/>
              <a:buNone/>
            </a:pPr>
            <a:r>
              <a:rPr lang="fr-FR" sz="4400" b="0" i="0" u="none" strike="noStrike" cap="none">
                <a:solidFill>
                  <a:schemeClr val="dk1"/>
                </a:solidFill>
                <a:latin typeface="Calibri"/>
                <a:ea typeface="Calibri"/>
                <a:cs typeface="Calibri"/>
                <a:sym typeface="Calibri"/>
              </a:rPr>
              <a:t>   </a:t>
            </a:r>
            <a:r>
              <a:rPr lang="fr-FR" sz="4400" b="0" i="0" u="none" strike="noStrike" cap="none">
                <a:solidFill>
                  <a:schemeClr val="dk1"/>
                </a:solidFill>
                <a:latin typeface="Arial Black"/>
                <a:ea typeface="Arial Black"/>
                <a:cs typeface="Arial Black"/>
                <a:sym typeface="Arial Black"/>
              </a:rPr>
              <a:t>Interface QT</a:t>
            </a:r>
            <a:endParaRPr sz="4400" b="0" i="0" u="none" strike="noStrike" cap="none">
              <a:solidFill>
                <a:schemeClr val="dk1"/>
              </a:solidFill>
              <a:latin typeface="Arial Black"/>
              <a:ea typeface="Arial Black"/>
              <a:cs typeface="Arial Black"/>
              <a:sym typeface="Arial Black"/>
            </a:endParaRPr>
          </a:p>
        </p:txBody>
      </p:sp>
      <p:sp>
        <p:nvSpPr>
          <p:cNvPr id="559" name="Google Shape;559;p33"/>
          <p:cNvSpPr/>
          <p:nvPr/>
        </p:nvSpPr>
        <p:spPr>
          <a:xfrm>
            <a:off x="940311" y="1389408"/>
            <a:ext cx="803387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Char char="•"/>
            </a:pPr>
            <a:r>
              <a:rPr lang="fr-FR" sz="1800" b="1" i="0" u="none" strike="noStrike" cap="none">
                <a:solidFill>
                  <a:schemeClr val="dk1"/>
                </a:solidFill>
                <a:latin typeface="Calibri"/>
                <a:ea typeface="Calibri"/>
                <a:cs typeface="Calibri"/>
                <a:sym typeface="Calibri"/>
              </a:rPr>
              <a:t> Implémentation de la classe d’interface graphique </a:t>
            </a:r>
            <a:r>
              <a:rPr lang="fr-FR" sz="1800" b="1" i="0" u="none" strike="noStrike" cap="none">
                <a:solidFill>
                  <a:srgbClr val="FF0000"/>
                </a:solidFill>
                <a:latin typeface="Calibri"/>
                <a:ea typeface="Calibri"/>
                <a:cs typeface="Calibri"/>
                <a:sym typeface="Calibri"/>
              </a:rPr>
              <a:t>Mainwindow.cpp</a:t>
            </a:r>
            <a:endParaRPr sz="1800" b="1" i="0" u="none" strike="noStrike" cap="none">
              <a:solidFill>
                <a:srgbClr val="FF0000"/>
              </a:solidFill>
              <a:latin typeface="Calibri"/>
              <a:ea typeface="Calibri"/>
              <a:cs typeface="Calibri"/>
              <a:sym typeface="Calibri"/>
            </a:endParaRPr>
          </a:p>
        </p:txBody>
      </p:sp>
      <p:pic>
        <p:nvPicPr>
          <p:cNvPr id="560" name="Google Shape;560;p33"/>
          <p:cNvPicPr preferRelativeResize="0">
            <a:picLocks noGrp="1"/>
          </p:cNvPicPr>
          <p:nvPr>
            <p:ph type="body" idx="1"/>
          </p:nvPr>
        </p:nvPicPr>
        <p:blipFill rotWithShape="1">
          <a:blip r:embed="rId3">
            <a:alphaModFix/>
          </a:blip>
          <a:srcRect/>
          <a:stretch/>
        </p:blipFill>
        <p:spPr>
          <a:xfrm>
            <a:off x="822960" y="1907176"/>
            <a:ext cx="10698480" cy="457200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34"/>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566" name="Google Shape;566;p3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37</a:t>
            </a:fld>
            <a:endParaRPr/>
          </a:p>
        </p:txBody>
      </p:sp>
      <p:sp>
        <p:nvSpPr>
          <p:cNvPr id="567" name="Google Shape;567;p34"/>
          <p:cNvSpPr txBox="1"/>
          <p:nvPr/>
        </p:nvSpPr>
        <p:spPr>
          <a:xfrm>
            <a:off x="990600" y="465276"/>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Calibri"/>
              <a:buNone/>
            </a:pPr>
            <a:r>
              <a:rPr lang="fr-FR" sz="4400" b="0" i="0" u="none" strike="noStrike" cap="none">
                <a:solidFill>
                  <a:schemeClr val="dk1"/>
                </a:solidFill>
                <a:latin typeface="Calibri"/>
                <a:ea typeface="Calibri"/>
                <a:cs typeface="Calibri"/>
                <a:sym typeface="Calibri"/>
              </a:rPr>
              <a:t>   </a:t>
            </a:r>
            <a:r>
              <a:rPr lang="fr-FR" sz="4400" b="0" i="0" u="none" strike="noStrike" cap="none">
                <a:solidFill>
                  <a:schemeClr val="dk1"/>
                </a:solidFill>
                <a:latin typeface="Arial Black"/>
                <a:ea typeface="Arial Black"/>
                <a:cs typeface="Arial Black"/>
                <a:sym typeface="Arial Black"/>
              </a:rPr>
              <a:t>Interface QT</a:t>
            </a:r>
            <a:endParaRPr sz="4400" b="0" i="0" u="none" strike="noStrike" cap="none">
              <a:solidFill>
                <a:schemeClr val="dk1"/>
              </a:solidFill>
              <a:latin typeface="Arial Black"/>
              <a:ea typeface="Arial Black"/>
              <a:cs typeface="Arial Black"/>
              <a:sym typeface="Arial Black"/>
            </a:endParaRPr>
          </a:p>
        </p:txBody>
      </p:sp>
      <p:sp>
        <p:nvSpPr>
          <p:cNvPr id="568" name="Google Shape;568;p34"/>
          <p:cNvSpPr/>
          <p:nvPr/>
        </p:nvSpPr>
        <p:spPr>
          <a:xfrm>
            <a:off x="940311" y="1389408"/>
            <a:ext cx="803387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Char char="•"/>
            </a:pPr>
            <a:r>
              <a:rPr lang="fr-FR" sz="1800" b="1" i="0" u="none" strike="noStrike" cap="none">
                <a:solidFill>
                  <a:schemeClr val="dk1"/>
                </a:solidFill>
                <a:latin typeface="Calibri"/>
                <a:ea typeface="Calibri"/>
                <a:cs typeface="Calibri"/>
                <a:sym typeface="Calibri"/>
              </a:rPr>
              <a:t> Implémentation de la classe d’interface graphique </a:t>
            </a:r>
            <a:r>
              <a:rPr lang="fr-FR" sz="1800" b="1" i="0" u="none" strike="noStrike" cap="none">
                <a:solidFill>
                  <a:srgbClr val="FF0000"/>
                </a:solidFill>
                <a:latin typeface="Calibri"/>
                <a:ea typeface="Calibri"/>
                <a:cs typeface="Calibri"/>
                <a:sym typeface="Calibri"/>
              </a:rPr>
              <a:t>Mainwindow.cpp</a:t>
            </a:r>
            <a:endParaRPr sz="1800" b="1" i="0" u="none" strike="noStrike" cap="none">
              <a:solidFill>
                <a:srgbClr val="FF0000"/>
              </a:solidFill>
              <a:latin typeface="Calibri"/>
              <a:ea typeface="Calibri"/>
              <a:cs typeface="Calibri"/>
              <a:sym typeface="Calibri"/>
            </a:endParaRPr>
          </a:p>
        </p:txBody>
      </p:sp>
      <p:pic>
        <p:nvPicPr>
          <p:cNvPr id="569" name="Google Shape;569;p34"/>
          <p:cNvPicPr preferRelativeResize="0">
            <a:picLocks noGrp="1"/>
          </p:cNvPicPr>
          <p:nvPr>
            <p:ph type="body" idx="1"/>
          </p:nvPr>
        </p:nvPicPr>
        <p:blipFill rotWithShape="1">
          <a:blip r:embed="rId3">
            <a:alphaModFix/>
          </a:blip>
          <a:srcRect/>
          <a:stretch/>
        </p:blipFill>
        <p:spPr>
          <a:xfrm>
            <a:off x="992778" y="1920241"/>
            <a:ext cx="9966960" cy="412786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35"/>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575" name="Google Shape;575;p35"/>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38</a:t>
            </a:fld>
            <a:endParaRPr/>
          </a:p>
        </p:txBody>
      </p:sp>
      <p:sp>
        <p:nvSpPr>
          <p:cNvPr id="576" name="Google Shape;576;p35"/>
          <p:cNvSpPr txBox="1"/>
          <p:nvPr/>
        </p:nvSpPr>
        <p:spPr>
          <a:xfrm>
            <a:off x="990600" y="465276"/>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Calibri"/>
              <a:buNone/>
            </a:pPr>
            <a:r>
              <a:rPr lang="fr-FR" sz="4400" b="0" i="0" u="none" strike="noStrike" cap="none">
                <a:solidFill>
                  <a:schemeClr val="dk1"/>
                </a:solidFill>
                <a:latin typeface="Calibri"/>
                <a:ea typeface="Calibri"/>
                <a:cs typeface="Calibri"/>
                <a:sym typeface="Calibri"/>
              </a:rPr>
              <a:t>   </a:t>
            </a:r>
            <a:r>
              <a:rPr lang="fr-FR" sz="4400" b="0" i="0" u="none" strike="noStrike" cap="none">
                <a:solidFill>
                  <a:schemeClr val="dk1"/>
                </a:solidFill>
                <a:latin typeface="Arial Black"/>
                <a:ea typeface="Arial Black"/>
                <a:cs typeface="Arial Black"/>
                <a:sym typeface="Arial Black"/>
              </a:rPr>
              <a:t>Interface QT</a:t>
            </a:r>
            <a:endParaRPr sz="4400" b="0" i="0" u="none" strike="noStrike" cap="none">
              <a:solidFill>
                <a:schemeClr val="dk1"/>
              </a:solidFill>
              <a:latin typeface="Arial Black"/>
              <a:ea typeface="Arial Black"/>
              <a:cs typeface="Arial Black"/>
              <a:sym typeface="Arial Black"/>
            </a:endParaRPr>
          </a:p>
        </p:txBody>
      </p:sp>
      <p:sp>
        <p:nvSpPr>
          <p:cNvPr id="577" name="Google Shape;577;p35"/>
          <p:cNvSpPr/>
          <p:nvPr/>
        </p:nvSpPr>
        <p:spPr>
          <a:xfrm>
            <a:off x="940311" y="1389408"/>
            <a:ext cx="803387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Char char="•"/>
            </a:pPr>
            <a:r>
              <a:rPr lang="fr-FR" sz="1800" b="1" i="0" u="none" strike="noStrike" cap="none">
                <a:solidFill>
                  <a:schemeClr val="dk1"/>
                </a:solidFill>
                <a:latin typeface="Calibri"/>
                <a:ea typeface="Calibri"/>
                <a:cs typeface="Calibri"/>
                <a:sym typeface="Calibri"/>
              </a:rPr>
              <a:t> Implémentation de la classe d’interface graphique </a:t>
            </a:r>
            <a:r>
              <a:rPr lang="fr-FR" sz="1800" b="1" i="0" u="none" strike="noStrike" cap="none">
                <a:solidFill>
                  <a:srgbClr val="FF0000"/>
                </a:solidFill>
                <a:latin typeface="Calibri"/>
                <a:ea typeface="Calibri"/>
                <a:cs typeface="Calibri"/>
                <a:sym typeface="Calibri"/>
              </a:rPr>
              <a:t>Mainwindow.cpp</a:t>
            </a:r>
            <a:endParaRPr sz="1800" b="1" i="0" u="none" strike="noStrike" cap="none">
              <a:solidFill>
                <a:srgbClr val="FF0000"/>
              </a:solidFill>
              <a:latin typeface="Calibri"/>
              <a:ea typeface="Calibri"/>
              <a:cs typeface="Calibri"/>
              <a:sym typeface="Calibri"/>
            </a:endParaRPr>
          </a:p>
        </p:txBody>
      </p:sp>
      <p:sp>
        <p:nvSpPr>
          <p:cNvPr id="578" name="Google Shape;578;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579" name="Google Shape;579;p35"/>
          <p:cNvPicPr preferRelativeResize="0"/>
          <p:nvPr/>
        </p:nvPicPr>
        <p:blipFill rotWithShape="1">
          <a:blip r:embed="rId3">
            <a:alphaModFix/>
          </a:blip>
          <a:srcRect/>
          <a:stretch/>
        </p:blipFill>
        <p:spPr>
          <a:xfrm>
            <a:off x="849086" y="1854927"/>
            <a:ext cx="9509760" cy="440218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3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a:t>   </a:t>
            </a:r>
            <a:endParaRPr/>
          </a:p>
        </p:txBody>
      </p:sp>
      <p:sp>
        <p:nvSpPr>
          <p:cNvPr id="585" name="Google Shape;585;p36"/>
          <p:cNvSpPr txBox="1">
            <a:spLocks noGrp="1"/>
          </p:cNvSpPr>
          <p:nvPr>
            <p:ph type="body" idx="1"/>
          </p:nvPr>
        </p:nvSpPr>
        <p:spPr>
          <a:xfrm>
            <a:off x="838200" y="1617617"/>
            <a:ext cx="10515600" cy="153576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6000"/>
              <a:buNone/>
            </a:pPr>
            <a:r>
              <a:rPr lang="fr-FR" sz="6000">
                <a:latin typeface="Algerian"/>
                <a:ea typeface="Algerian"/>
                <a:cs typeface="Algerian"/>
                <a:sym typeface="Algerian"/>
              </a:rPr>
              <a:t>Bonne continuation</a:t>
            </a:r>
            <a:endParaRPr sz="6000">
              <a:latin typeface="Algerian"/>
              <a:ea typeface="Algerian"/>
              <a:cs typeface="Algerian"/>
              <a:sym typeface="Algerian"/>
            </a:endParaRPr>
          </a:p>
        </p:txBody>
      </p:sp>
      <p:sp>
        <p:nvSpPr>
          <p:cNvPr id="586" name="Google Shape;586;p36"/>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587" name="Google Shape;587;p3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39</a:t>
            </a:fld>
            <a:endParaRPr/>
          </a:p>
        </p:txBody>
      </p:sp>
      <p:pic>
        <p:nvPicPr>
          <p:cNvPr id="588" name="Google Shape;588;p36" descr="RÃ©sultat de recherche d'images pour &quot;TRAVAIL EN EQUIPE  PROVERB&quot;"/>
          <p:cNvPicPr preferRelativeResize="0"/>
          <p:nvPr/>
        </p:nvPicPr>
        <p:blipFill rotWithShape="1">
          <a:blip r:embed="rId3">
            <a:alphaModFix/>
          </a:blip>
          <a:srcRect/>
          <a:stretch/>
        </p:blipFill>
        <p:spPr>
          <a:xfrm>
            <a:off x="3697265" y="3153378"/>
            <a:ext cx="3790950" cy="1866901"/>
          </a:xfrm>
          <a:prstGeom prst="rect">
            <a:avLst/>
          </a:prstGeom>
          <a:noFill/>
          <a:ln>
            <a:noFill/>
          </a:ln>
        </p:spPr>
      </p:pic>
    </p:spTree>
  </p:cSld>
  <p:clrMapOvr>
    <a:masterClrMapping/>
  </p:clrMapOvr>
</p:sld>
</file>

<file path=ppt/theme/theme1.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_esprit">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1199</Words>
  <Application>Microsoft Office PowerPoint</Application>
  <PresentationFormat>Grand écran</PresentationFormat>
  <Paragraphs>195</Paragraphs>
  <Slides>39</Slides>
  <Notes>36</Notes>
  <HiddenSlides>0</HiddenSlides>
  <MMClips>0</MMClips>
  <ScaleCrop>false</ScaleCrop>
  <HeadingPairs>
    <vt:vector size="6" baseType="variant">
      <vt:variant>
        <vt:lpstr>Polices utilisées</vt:lpstr>
      </vt:variant>
      <vt:variant>
        <vt:i4>5</vt:i4>
      </vt:variant>
      <vt:variant>
        <vt:lpstr>Thème</vt:lpstr>
      </vt:variant>
      <vt:variant>
        <vt:i4>3</vt:i4>
      </vt:variant>
      <vt:variant>
        <vt:lpstr>Titres des diapositives</vt:lpstr>
      </vt:variant>
      <vt:variant>
        <vt:i4>39</vt:i4>
      </vt:variant>
    </vt:vector>
  </HeadingPairs>
  <TitlesOfParts>
    <vt:vector size="47" baseType="lpstr">
      <vt:lpstr>Noto Sans Symbols</vt:lpstr>
      <vt:lpstr>Calibri</vt:lpstr>
      <vt:lpstr>Arial</vt:lpstr>
      <vt:lpstr>Algerian</vt:lpstr>
      <vt:lpstr>Arial Black</vt:lpstr>
      <vt:lpstr>Thème Office</vt:lpstr>
      <vt:lpstr>Thème_esprit</vt:lpstr>
      <vt:lpstr>1_Office Theme</vt:lpstr>
      <vt:lpstr>Présentation PowerPoint</vt:lpstr>
      <vt:lpstr>Plan:</vt:lpstr>
      <vt:lpstr>   Objectif </vt:lpstr>
      <vt:lpstr> Pour commencer</vt:lpstr>
      <vt:lpstr> Pour commencer</vt:lpstr>
      <vt:lpstr> Pour commencer</vt:lpstr>
      <vt:lpstr>  Guide d’Utilisation d’Arduino</vt:lpstr>
      <vt:lpstr>Présentation PowerPoint</vt:lpstr>
      <vt:lpstr> Premier Montage de test</vt:lpstr>
      <vt:lpstr>    Guide d’utilisation de la plaque d’essaie </vt:lpstr>
      <vt:lpstr> Réalisation du premier montage</vt:lpstr>
      <vt:lpstr> Réalisation du montage</vt:lpstr>
      <vt:lpstr> Test du premier montage</vt:lpstr>
      <vt:lpstr> Implémentation </vt:lpstr>
      <vt:lpstr> Implémentation </vt:lpstr>
      <vt:lpstr> Communication PC - Arduino</vt:lpstr>
      <vt:lpstr>QT-Arduino  </vt:lpstr>
      <vt:lpstr>   Code Arduino</vt:lpstr>
      <vt:lpstr>Présentation PowerPoint</vt:lpstr>
      <vt:lpstr>Présentation PowerPoint</vt:lpstr>
      <vt:lpstr>Présentation PowerPoint</vt:lpstr>
      <vt:lpstr>   Code Arduino</vt:lpstr>
      <vt:lpstr>   Code Arduino</vt:lpstr>
      <vt:lpstr>   Code Arduino</vt:lpstr>
      <vt:lpstr>  Test du code Arduino</vt:lpstr>
      <vt:lpstr>  Test du code Arduino</vt:lpstr>
      <vt:lpstr>  Test du code Arduino</vt:lpstr>
      <vt:lpstr>  Test du code Arduino</vt:lpstr>
      <vt:lpstr>   Interface QT</vt:lpstr>
      <vt:lpstr>   Interface QT</vt:lpstr>
      <vt:lpstr>   Interface QT</vt:lpstr>
      <vt:lpstr>   Interface QT</vt:lpstr>
      <vt:lpstr>Présentation PowerPoint</vt:lpstr>
      <vt:lpstr>Présentation PowerPoint</vt:lpstr>
      <vt:lpstr>Présentation PowerPoint</vt:lpstr>
      <vt:lpstr>Présentation PowerPoint</vt:lpstr>
      <vt:lpstr>Présentation PowerPoint</vt:lpstr>
      <vt:lpstr>Présentation PowerPoint</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Ines</dc:creator>
  <cp:lastModifiedBy>soumaya argoubi</cp:lastModifiedBy>
  <cp:revision>2</cp:revision>
  <dcterms:created xsi:type="dcterms:W3CDTF">2018-10-18T20:16:51Z</dcterms:created>
  <dcterms:modified xsi:type="dcterms:W3CDTF">2024-11-12T09:22:52Z</dcterms:modified>
</cp:coreProperties>
</file>